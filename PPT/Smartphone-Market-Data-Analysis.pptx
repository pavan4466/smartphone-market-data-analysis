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6" r:id="rId1"/>
  </p:sldMasterIdLst>
  <p:notesMasterIdLst>
    <p:notesMasterId r:id="rId16"/>
  </p:notesMasterIdLst>
  <p:sldIdLst>
    <p:sldId id="256" r:id="rId2"/>
    <p:sldId id="268" r:id="rId3"/>
    <p:sldId id="257" r:id="rId4"/>
    <p:sldId id="258" r:id="rId5"/>
    <p:sldId id="259" r:id="rId6"/>
    <p:sldId id="260" r:id="rId7"/>
    <p:sldId id="261" r:id="rId8"/>
    <p:sldId id="262" r:id="rId9"/>
    <p:sldId id="263" r:id="rId10"/>
    <p:sldId id="270" r:id="rId11"/>
    <p:sldId id="264" r:id="rId12"/>
    <p:sldId id="265" r:id="rId13"/>
    <p:sldId id="269" r:id="rId14"/>
    <p:sldId id="267" r:id="rId15"/>
  </p:sldIdLst>
  <p:sldSz cx="9144000" cy="5143500" type="screen16x9"/>
  <p:notesSz cx="5143500" cy="9144000"/>
  <p:embeddedFontLst>
    <p:embeddedFont>
      <p:font typeface="Canva Sans Bold" panose="020B0604020202020204" charset="0"/>
      <p:regular r:id="rId17"/>
    </p:embeddedFont>
    <p:embeddedFont>
      <p:font typeface="Consolas" panose="020B0609020204030204" pitchFamily="49" charset="0"/>
      <p:regular r:id="rId18"/>
      <p:bold r:id="rId19"/>
      <p:italic r:id="rId20"/>
      <p:boldItalic r:id="rId21"/>
    </p:embeddedFont>
    <p:embeddedFont>
      <p:font typeface="Copperplate Gothic Light" panose="020E0507020206020404" pitchFamily="34" charset="0"/>
      <p:regular r:id="rId22"/>
    </p:embeddedFont>
    <p:embeddedFont>
      <p:font typeface="DM Sans Semi Bold" panose="020B0604020202020204" charset="0"/>
      <p:regular r:id="rId23"/>
    </p:embeddedFont>
    <p:embeddedFont>
      <p:font typeface="Gill Sans MT" panose="020B0502020104020203" pitchFamily="34" charset="0"/>
      <p:regular r:id="rId24"/>
      <p:bold r:id="rId25"/>
      <p:italic r:id="rId26"/>
      <p:boldItalic r:id="rId27"/>
    </p:embeddedFont>
    <p:embeddedFont>
      <p:font typeface="Inter Medium" panose="020B0604020202020204"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121" d="100"/>
          <a:sy n="121" d="100"/>
        </p:scale>
        <p:origin x="37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265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970226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623228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944310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395668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0717246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439406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79409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Date Placeholder 8"/>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133134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764DE79-268F-4C1A-8933-263129D2AF90}" type="datetimeFigureOut">
              <a:rPr lang="en-US" smtClean="0"/>
              <a:t>5/18/2026</a:t>
            </a:fld>
            <a:endParaRPr lang="en-US" dirty="0"/>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937591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924312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9433398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746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374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6812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037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895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7763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283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71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056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5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C764DE79-268F-4C1A-8933-263129D2AF90}" type="datetimeFigureOut">
              <a:rPr lang="en-US" smtClean="0"/>
              <a:t>5/18/2026</a:t>
            </a:fld>
            <a:endParaRPr lang="en-US" dirty="0"/>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78974684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100201-3441-3EA4-C059-2B0CEE80CBC4}"/>
              </a:ext>
            </a:extLst>
          </p:cNvPr>
          <p:cNvPicPr>
            <a:picLocks noChangeAspect="1"/>
          </p:cNvPicPr>
          <p:nvPr/>
        </p:nvPicPr>
        <p:blipFill>
          <a:blip r:embed="rId3"/>
          <a:stretch>
            <a:fillRect/>
          </a:stretch>
        </p:blipFill>
        <p:spPr>
          <a:xfrm>
            <a:off x="-112426" y="0"/>
            <a:ext cx="9368852" cy="5143500"/>
          </a:xfrm>
          <a:prstGeom prst="rect">
            <a:avLst/>
          </a:prstGeom>
        </p:spPr>
      </p:pic>
      <p:sp>
        <p:nvSpPr>
          <p:cNvPr id="3" name="Text 1"/>
          <p:cNvSpPr/>
          <p:nvPr/>
        </p:nvSpPr>
        <p:spPr>
          <a:xfrm>
            <a:off x="991419" y="3413760"/>
            <a:ext cx="7348017" cy="236220"/>
          </a:xfrm>
          <a:prstGeom prst="rect">
            <a:avLst/>
          </a:prstGeom>
          <a:noFill/>
          <a:ln/>
        </p:spPr>
        <p:txBody>
          <a:bodyPr wrap="none" lIns="0" tIns="0" rIns="0" bIns="0" rtlCol="0" anchor="t"/>
          <a:lstStyle/>
          <a:p>
            <a:pPr marL="0" indent="0" algn="ctr">
              <a:lnSpc>
                <a:spcPts val="1500"/>
              </a:lnSpc>
              <a:buNone/>
            </a:pPr>
            <a:r>
              <a:rPr lang="en-US" sz="1200" dirty="0">
                <a:solidFill>
                  <a:srgbClr val="030303"/>
                </a:solidFill>
                <a:latin typeface="DM Sans Semi Bold" pitchFamily="34" charset="0"/>
                <a:ea typeface="DM Sans Semi Bold" pitchFamily="34" charset="-122"/>
                <a:cs typeface="DM Sans Semi Bold" pitchFamily="34" charset="-120"/>
              </a:rPr>
              <a:t>Data Collection, Data Cleaning &amp; Exploratory Data Analysis </a:t>
            </a:r>
          </a:p>
          <a:p>
            <a:pPr algn="ctr">
              <a:lnSpc>
                <a:spcPts val="1500"/>
              </a:lnSpc>
            </a:pPr>
            <a:r>
              <a:rPr lang="en-US" sz="1200" dirty="0">
                <a:solidFill>
                  <a:srgbClr val="030303"/>
                </a:solidFill>
                <a:latin typeface="DM Sans Semi Bold" pitchFamily="34" charset="0"/>
                <a:ea typeface="DM Sans Semi Bold" pitchFamily="34" charset="-122"/>
                <a:cs typeface="DM Sans Semi Bold" pitchFamily="34" charset="-120"/>
              </a:rPr>
              <a:t>— A Comprehensive Data-Driven Study — </a:t>
            </a:r>
            <a:endParaRPr lang="en-US" sz="1200" dirty="0"/>
          </a:p>
        </p:txBody>
      </p:sp>
      <p:sp>
        <p:nvSpPr>
          <p:cNvPr id="2" name="Text 0"/>
          <p:cNvSpPr/>
          <p:nvPr/>
        </p:nvSpPr>
        <p:spPr>
          <a:xfrm>
            <a:off x="430939" y="2852213"/>
            <a:ext cx="8282121" cy="441963"/>
          </a:xfrm>
          <a:prstGeom prst="rect">
            <a:avLst/>
          </a:prstGeom>
          <a:noFill/>
          <a:ln/>
        </p:spPr>
        <p:txBody>
          <a:bodyPr wrap="none" lIns="0" tIns="0" rIns="0" bIns="0" rtlCol="0" anchor="t"/>
          <a:lstStyle/>
          <a:p>
            <a:pPr marL="0" indent="0" algn="ctr">
              <a:lnSpc>
                <a:spcPts val="3050"/>
              </a:lnSpc>
              <a:buNone/>
            </a:pPr>
            <a:r>
              <a:rPr lang="en-US" sz="2800" b="1" dirty="0">
                <a:solidFill>
                  <a:srgbClr val="C00000"/>
                </a:solidFill>
              </a:rPr>
              <a:t>SMARTPHONE MARKET DATA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BAB053C3-028F-1B9F-B602-DFF7D5C79D6A}"/>
              </a:ext>
            </a:extLst>
          </p:cNvPr>
          <p:cNvSpPr/>
          <p:nvPr/>
        </p:nvSpPr>
        <p:spPr>
          <a:xfrm>
            <a:off x="611535" y="1455419"/>
            <a:ext cx="4288387" cy="1685071"/>
          </a:xfrm>
          <a:prstGeom prst="rect">
            <a:avLst/>
          </a:prstGeom>
          <a:noFill/>
          <a:ln/>
        </p:spPr>
        <p:txBody>
          <a:bodyPr wrap="square" lIns="0" tIns="0" rIns="0" bIns="0" rtlCol="0" anchor="t"/>
          <a:lstStyle/>
          <a:p>
            <a:pPr marL="0" indent="0" algn="l">
              <a:buNone/>
            </a:pPr>
            <a:r>
              <a:rPr lang="en-US" sz="1400" b="1" dirty="0">
                <a:solidFill>
                  <a:srgbClr val="464646"/>
                </a:solidFill>
                <a:latin typeface="Inter Medium" pitchFamily="34" charset="0"/>
                <a:ea typeface="Inter Medium" pitchFamily="34" charset="-122"/>
                <a:cs typeface="Inter Medium" pitchFamily="34" charset="-120"/>
              </a:rPr>
              <a:t>Name : Vinjamuri Pavan Mallesh</a:t>
            </a:r>
          </a:p>
          <a:p>
            <a:pPr marL="0" indent="0" algn="l">
              <a:buNone/>
            </a:pPr>
            <a:endParaRPr lang="en-US" sz="1400" dirty="0"/>
          </a:p>
          <a:p>
            <a:pPr marL="0" indent="0" algn="l">
              <a:buNone/>
            </a:pPr>
            <a:r>
              <a:rPr lang="en-US" sz="1400" b="1" dirty="0">
                <a:solidFill>
                  <a:srgbClr val="464646"/>
                </a:solidFill>
                <a:latin typeface="Inter Medium" pitchFamily="34" charset="0"/>
                <a:ea typeface="Inter Medium" pitchFamily="34" charset="-122"/>
                <a:cs typeface="Inter Medium" pitchFamily="34" charset="-120"/>
              </a:rPr>
              <a:t>Batch :</a:t>
            </a:r>
            <a:r>
              <a:rPr lang="en-US" sz="1400" dirty="0">
                <a:solidFill>
                  <a:srgbClr val="464646"/>
                </a:solidFill>
                <a:latin typeface="Inter Medium" pitchFamily="34" charset="0"/>
                <a:ea typeface="Inter Medium" pitchFamily="34" charset="-122"/>
                <a:cs typeface="Inter Medium" pitchFamily="34" charset="-120"/>
              </a:rPr>
              <a:t> Data Analytics (495)</a:t>
            </a:r>
          </a:p>
          <a:p>
            <a:pPr marL="0" indent="0" algn="l">
              <a:buNone/>
            </a:pPr>
            <a:endParaRPr lang="en-US" sz="1400" dirty="0"/>
          </a:p>
          <a:p>
            <a:pPr marL="0" indent="0" algn="l">
              <a:buNone/>
            </a:pPr>
            <a:r>
              <a:rPr lang="en-US" sz="1400" b="1" dirty="0">
                <a:solidFill>
                  <a:srgbClr val="464646"/>
                </a:solidFill>
                <a:latin typeface="Inter Medium" pitchFamily="34" charset="0"/>
                <a:ea typeface="Inter Medium" pitchFamily="34" charset="-122"/>
                <a:cs typeface="Inter Medium" pitchFamily="34" charset="-120"/>
              </a:rPr>
              <a:t>Program :</a:t>
            </a:r>
            <a:r>
              <a:rPr lang="en-US" sz="1400" dirty="0">
                <a:solidFill>
                  <a:srgbClr val="464646"/>
                </a:solidFill>
                <a:latin typeface="Inter Medium" pitchFamily="34" charset="0"/>
                <a:ea typeface="Inter Medium" pitchFamily="34" charset="-122"/>
                <a:cs typeface="Inter Medium" pitchFamily="34" charset="-120"/>
              </a:rPr>
              <a:t> B.Tech, CSE – Data Science</a:t>
            </a:r>
          </a:p>
          <a:p>
            <a:pPr marL="0" indent="0" algn="l">
              <a:buNone/>
            </a:pPr>
            <a:endParaRPr lang="en-US" sz="1400" dirty="0">
              <a:solidFill>
                <a:srgbClr val="464646"/>
              </a:solidFill>
              <a:latin typeface="Inter Medium" pitchFamily="34" charset="0"/>
              <a:ea typeface="Inter Medium" pitchFamily="34" charset="-122"/>
              <a:cs typeface="Inter Medium" pitchFamily="34" charset="-120"/>
            </a:endParaRPr>
          </a:p>
          <a:p>
            <a:r>
              <a:rPr lang="en-US" sz="1400" b="1" dirty="0">
                <a:solidFill>
                  <a:srgbClr val="464646"/>
                </a:solidFill>
                <a:latin typeface="Inter Medium" pitchFamily="34" charset="0"/>
                <a:ea typeface="Inter Medium" pitchFamily="34" charset="-122"/>
                <a:cs typeface="Inter Medium" pitchFamily="34" charset="-120"/>
              </a:rPr>
              <a:t>LinkedIn : </a:t>
            </a:r>
            <a:r>
              <a:rPr lang="en-IN" sz="1200" dirty="0">
                <a:latin typeface="Inter Medium" panose="020B0604020202020204" charset="0"/>
                <a:ea typeface="Inter Medium" panose="020B0604020202020204" charset="0"/>
              </a:rPr>
              <a:t>www.linkedin.com/in/pavanmallesh4466</a:t>
            </a:r>
            <a:endParaRPr lang="en-US" sz="1400" dirty="0">
              <a:latin typeface="Inter Medium" panose="020B0604020202020204" charset="0"/>
              <a:ea typeface="Inter Medium" panose="020B0604020202020204" charset="0"/>
            </a:endParaRPr>
          </a:p>
        </p:txBody>
      </p:sp>
      <p:sp>
        <p:nvSpPr>
          <p:cNvPr id="6" name="Text 2">
            <a:extLst>
              <a:ext uri="{FF2B5EF4-FFF2-40B4-BE49-F238E27FC236}">
                <a16:creationId xmlns:a16="http://schemas.microsoft.com/office/drawing/2014/main" id="{36A1E0B5-7251-3D2B-78D2-D35CAA160514}"/>
              </a:ext>
            </a:extLst>
          </p:cNvPr>
          <p:cNvSpPr/>
          <p:nvPr/>
        </p:nvSpPr>
        <p:spPr>
          <a:xfrm>
            <a:off x="611536" y="620090"/>
            <a:ext cx="7915244" cy="489721"/>
          </a:xfrm>
          <a:prstGeom prst="rect">
            <a:avLst/>
          </a:prstGeom>
          <a:noFill/>
          <a:ln/>
        </p:spPr>
        <p:txBody>
          <a:bodyPr wrap="none" lIns="0" tIns="0" rIns="0" bIns="0" rtlCol="0" anchor="t"/>
          <a:lstStyle/>
          <a:p>
            <a:pPr marL="0" indent="0" algn="ctr">
              <a:lnSpc>
                <a:spcPts val="3000"/>
              </a:lnSpc>
              <a:buNone/>
            </a:pPr>
            <a:r>
              <a:rPr lang="en-US" sz="2800" b="1" dirty="0">
                <a:solidFill>
                  <a:srgbClr val="030303"/>
                </a:solidFill>
                <a:latin typeface="Copperplate Gothic Light" panose="020E0507020206020404" pitchFamily="34" charset="0"/>
                <a:ea typeface="DM Sans Semi Bold" pitchFamily="34" charset="-122"/>
                <a:cs typeface="DM Sans Semi Bold" pitchFamily="34" charset="-120"/>
              </a:rPr>
              <a:t>About Group</a:t>
            </a:r>
            <a:endParaRPr lang="en-US" sz="2800" b="1" dirty="0">
              <a:latin typeface="Copperplate Gothic Light" panose="020E0507020206020404" pitchFamily="34" charset="0"/>
            </a:endParaRPr>
          </a:p>
        </p:txBody>
      </p:sp>
      <p:sp>
        <p:nvSpPr>
          <p:cNvPr id="7" name="Freeform 10">
            <a:extLst>
              <a:ext uri="{FF2B5EF4-FFF2-40B4-BE49-F238E27FC236}">
                <a16:creationId xmlns:a16="http://schemas.microsoft.com/office/drawing/2014/main" id="{4582766E-49DF-2B1A-57D3-8E76B0718F6C}"/>
              </a:ext>
            </a:extLst>
          </p:cNvPr>
          <p:cNvSpPr/>
          <p:nvPr/>
        </p:nvSpPr>
        <p:spPr>
          <a:xfrm>
            <a:off x="5402662" y="1455420"/>
            <a:ext cx="3604114" cy="3106252"/>
          </a:xfrm>
          <a:custGeom>
            <a:avLst/>
            <a:gdLst/>
            <a:ahLst/>
            <a:cxnLst/>
            <a:rect l="l" t="t" r="r" b="b"/>
            <a:pathLst>
              <a:path w="10132436" h="8519171">
                <a:moveTo>
                  <a:pt x="0" y="0"/>
                </a:moveTo>
                <a:lnTo>
                  <a:pt x="10132436" y="0"/>
                </a:lnTo>
                <a:lnTo>
                  <a:pt x="10132436" y="8519171"/>
                </a:lnTo>
                <a:lnTo>
                  <a:pt x="0" y="8519171"/>
                </a:lnTo>
                <a:lnTo>
                  <a:pt x="0" y="0"/>
                </a:lnTo>
                <a:close/>
              </a:path>
            </a:pathLst>
          </a:custGeom>
          <a:blipFill>
            <a:blip r:embed="rId2"/>
            <a:stretch>
              <a:fillRect/>
            </a:stretch>
          </a:blipFill>
        </p:spPr>
        <p:txBody>
          <a:bodyPr/>
          <a:lstStyle/>
          <a:p>
            <a:endParaRPr lang="en-IN" dirty="0"/>
          </a:p>
        </p:txBody>
      </p:sp>
    </p:spTree>
    <p:extLst>
      <p:ext uri="{BB962C8B-B14F-4D97-AF65-F5344CB8AC3E}">
        <p14:creationId xmlns:p14="http://schemas.microsoft.com/office/powerpoint/2010/main" val="29914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3917379" y="451917"/>
            <a:ext cx="1338709" cy="228302"/>
          </a:xfrm>
          <a:prstGeom prst="roundRect">
            <a:avLst>
              <a:gd name="adj" fmla="val 6418"/>
            </a:avLst>
          </a:prstGeom>
          <a:solidFill>
            <a:srgbClr val="D4F7EC"/>
          </a:solidFill>
          <a:ln/>
        </p:spPr>
        <p:txBody>
          <a:bodyPr/>
          <a:lstStyle/>
          <a:p>
            <a:endParaRPr lang="en-IN"/>
          </a:p>
        </p:txBody>
      </p:sp>
      <p:sp>
        <p:nvSpPr>
          <p:cNvPr id="4" name="Text 1"/>
          <p:cNvSpPr/>
          <p:nvPr/>
        </p:nvSpPr>
        <p:spPr>
          <a:xfrm>
            <a:off x="3990602" y="496416"/>
            <a:ext cx="1192262" cy="155079"/>
          </a:xfrm>
          <a:prstGeom prst="rect">
            <a:avLst/>
          </a:prstGeom>
          <a:noFill/>
          <a:ln/>
        </p:spPr>
        <p:txBody>
          <a:bodyPr wrap="none" lIns="0" tIns="0" rIns="0" bIns="0" rtlCol="0" anchor="t"/>
          <a:lstStyle/>
          <a:p>
            <a:pPr marL="0" indent="0" algn="l">
              <a:lnSpc>
                <a:spcPts val="1200"/>
              </a:lnSpc>
              <a:buNone/>
            </a:pPr>
            <a:r>
              <a:rPr lang="en-US" sz="750" dirty="0">
                <a:solidFill>
                  <a:srgbClr val="464646"/>
                </a:solidFill>
                <a:latin typeface="Inter Medium" pitchFamily="34" charset="0"/>
                <a:ea typeface="Inter Medium" pitchFamily="34" charset="-122"/>
                <a:cs typeface="Inter Medium" pitchFamily="34" charset="-120"/>
              </a:rPr>
              <a:t>CASE STUDY SELECTION</a:t>
            </a:r>
            <a:endParaRPr lang="en-US" sz="750" dirty="0"/>
          </a:p>
        </p:txBody>
      </p:sp>
      <p:sp>
        <p:nvSpPr>
          <p:cNvPr id="5" name="Text 2"/>
          <p:cNvSpPr/>
          <p:nvPr/>
        </p:nvSpPr>
        <p:spPr>
          <a:xfrm>
            <a:off x="3917379" y="728290"/>
            <a:ext cx="4392960" cy="381521"/>
          </a:xfrm>
          <a:prstGeom prst="rect">
            <a:avLst/>
          </a:prstGeom>
          <a:noFill/>
          <a:ln/>
        </p:spPr>
        <p:txBody>
          <a:bodyPr wrap="none" lIns="0" tIns="0" rIns="0" bIns="0" rtlCol="0" anchor="t"/>
          <a:lstStyle/>
          <a:p>
            <a:pPr marL="0" indent="0" algn="l">
              <a:lnSpc>
                <a:spcPts val="3000"/>
              </a:lnSpc>
              <a:buNone/>
            </a:pPr>
            <a:r>
              <a:rPr lang="en-US" sz="2400" dirty="0">
                <a:solidFill>
                  <a:srgbClr val="030303"/>
                </a:solidFill>
                <a:latin typeface="DM Sans Semi Bold" pitchFamily="34" charset="0"/>
                <a:ea typeface="DM Sans Semi Bold" pitchFamily="34" charset="-122"/>
                <a:cs typeface="DM Sans Semi Bold" pitchFamily="34" charset="-120"/>
              </a:rPr>
              <a:t>Why the Smartphone Market?</a:t>
            </a:r>
            <a:endParaRPr lang="en-US" sz="2400" dirty="0"/>
          </a:p>
        </p:txBody>
      </p:sp>
      <p:sp>
        <p:nvSpPr>
          <p:cNvPr id="6" name="Text 3"/>
          <p:cNvSpPr/>
          <p:nvPr/>
        </p:nvSpPr>
        <p:spPr>
          <a:xfrm>
            <a:off x="3917379" y="1290042"/>
            <a:ext cx="4738241" cy="969243"/>
          </a:xfrm>
          <a:prstGeom prst="rect">
            <a:avLst/>
          </a:prstGeom>
          <a:noFill/>
          <a:ln/>
        </p:spPr>
        <p:txBody>
          <a:bodyPr wrap="square" lIns="0" tIns="0" rIns="0" bIns="0" rtlCol="0" anchor="t"/>
          <a:lstStyle/>
          <a:p>
            <a:pPr>
              <a:lnSpc>
                <a:spcPts val="1500"/>
              </a:lnSpc>
            </a:pPr>
            <a:r>
              <a:rPr lang="en-US" sz="1000" dirty="0">
                <a:solidFill>
                  <a:schemeClr val="tx1">
                    <a:lumMod val="65000"/>
                    <a:lumOff val="35000"/>
                  </a:schemeClr>
                </a:solidFill>
                <a:latin typeface="Inter Medium" panose="020B0604020202020204" charset="0"/>
                <a:ea typeface="Inter Medium" panose="020B0604020202020204" charset="0"/>
              </a:rPr>
              <a:t>The smartphone market is one of the fastest-growing and most competitive industries, with many brands offering products across different price ranges, features, and specifications. This makes it an ideal case study for data analysis because it combines pricing, customer ratings, reviews, and technical features in one market.</a:t>
            </a:r>
          </a:p>
          <a:p>
            <a:pPr marL="0" indent="0" algn="l">
              <a:lnSpc>
                <a:spcPts val="1500"/>
              </a:lnSpc>
              <a:buNone/>
            </a:pPr>
            <a:r>
              <a:rPr lang="en-US" sz="950" dirty="0">
                <a:solidFill>
                  <a:schemeClr val="tx1">
                    <a:lumMod val="65000"/>
                    <a:lumOff val="35000"/>
                  </a:schemeClr>
                </a:solidFill>
                <a:latin typeface="Inter Medium" panose="020B0604020202020204" charset="0"/>
                <a:ea typeface="Inter Medium" panose="020B0604020202020204" charset="0"/>
                <a:cs typeface="Inter Medium" pitchFamily="34" charset="-120"/>
              </a:rPr>
              <a:t>.</a:t>
            </a:r>
            <a:endParaRPr lang="en-US" sz="950" dirty="0">
              <a:solidFill>
                <a:schemeClr val="tx1">
                  <a:lumMod val="65000"/>
                  <a:lumOff val="35000"/>
                </a:schemeClr>
              </a:solidFill>
              <a:latin typeface="Inter Medium" panose="020B0604020202020204" charset="0"/>
              <a:ea typeface="Inter Medium" panose="020B0604020202020204" charset="0"/>
            </a:endParaRPr>
          </a:p>
        </p:txBody>
      </p:sp>
      <p:sp>
        <p:nvSpPr>
          <p:cNvPr id="7" name="Shape 4"/>
          <p:cNvSpPr/>
          <p:nvPr/>
        </p:nvSpPr>
        <p:spPr>
          <a:xfrm>
            <a:off x="3917379" y="2394496"/>
            <a:ext cx="2308994" cy="1282303"/>
          </a:xfrm>
          <a:prstGeom prst="roundRect">
            <a:avLst>
              <a:gd name="adj" fmla="val 1428"/>
            </a:avLst>
          </a:prstGeom>
          <a:solidFill>
            <a:srgbClr val="F2EEEE"/>
          </a:solidFill>
          <a:ln/>
        </p:spPr>
        <p:txBody>
          <a:bodyPr/>
          <a:lstStyle/>
          <a:p>
            <a:endParaRPr lang="en-IN"/>
          </a:p>
        </p:txBody>
      </p:sp>
      <p:sp>
        <p:nvSpPr>
          <p:cNvPr id="8" name="Text 5"/>
          <p:cNvSpPr/>
          <p:nvPr/>
        </p:nvSpPr>
        <p:spPr>
          <a:xfrm>
            <a:off x="4039419" y="2516535"/>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DM Sans Semi Bold" pitchFamily="34" charset="0"/>
                <a:ea typeface="DM Sans Semi Bold" pitchFamily="34" charset="-122"/>
                <a:cs typeface="DM Sans Semi Bold" pitchFamily="34" charset="-120"/>
              </a:rPr>
              <a:t>🏆</a:t>
            </a:r>
            <a:r>
              <a:rPr lang="en-US" sz="1200" dirty="0">
                <a:solidFill>
                  <a:srgbClr val="464646"/>
                </a:solidFill>
                <a:latin typeface="DM Sans Semi Bold" pitchFamily="34" charset="0"/>
                <a:ea typeface="DM Sans Semi Bold" pitchFamily="34" charset="-122"/>
                <a:cs typeface="DM Sans Semi Bold" pitchFamily="34" charset="-120"/>
              </a:rPr>
              <a:t> High Competition</a:t>
            </a:r>
            <a:endParaRPr lang="en-US" sz="1200" dirty="0"/>
          </a:p>
        </p:txBody>
      </p:sp>
      <p:sp>
        <p:nvSpPr>
          <p:cNvPr id="9" name="Text 6"/>
          <p:cNvSpPr/>
          <p:nvPr/>
        </p:nvSpPr>
        <p:spPr>
          <a:xfrm>
            <a:off x="4039419" y="2779365"/>
            <a:ext cx="2064916" cy="775395"/>
          </a:xfrm>
          <a:prstGeom prst="rect">
            <a:avLst/>
          </a:prstGeom>
          <a:noFill/>
          <a:ln/>
        </p:spPr>
        <p:txBody>
          <a:bodyPr wrap="square" lIns="0" tIns="0" rIns="0" bIns="0" rtlCol="0" anchor="t"/>
          <a:lstStyle/>
          <a:p>
            <a:r>
              <a:rPr lang="en-US" sz="1000" dirty="0">
                <a:solidFill>
                  <a:schemeClr val="tx1">
                    <a:lumMod val="65000"/>
                    <a:lumOff val="35000"/>
                  </a:schemeClr>
                </a:solidFill>
                <a:latin typeface="Inter Medium" panose="020B0604020202020204" charset="0"/>
                <a:ea typeface="Inter Medium" panose="020B0604020202020204" charset="0"/>
              </a:rPr>
              <a:t>Many smartphone brands compete in budget, mid-range, and premium segments, creating clear differences in pricing and market strategy.</a:t>
            </a:r>
          </a:p>
        </p:txBody>
      </p:sp>
      <p:sp>
        <p:nvSpPr>
          <p:cNvPr id="10" name="Shape 7"/>
          <p:cNvSpPr/>
          <p:nvPr/>
        </p:nvSpPr>
        <p:spPr>
          <a:xfrm>
            <a:off x="6346552" y="2394496"/>
            <a:ext cx="2309068" cy="1282303"/>
          </a:xfrm>
          <a:prstGeom prst="roundRect">
            <a:avLst>
              <a:gd name="adj" fmla="val 1428"/>
            </a:avLst>
          </a:prstGeom>
          <a:solidFill>
            <a:srgbClr val="F2EEEE"/>
          </a:solidFill>
          <a:ln/>
        </p:spPr>
        <p:txBody>
          <a:bodyPr/>
          <a:lstStyle/>
          <a:p>
            <a:endParaRPr lang="en-IN"/>
          </a:p>
        </p:txBody>
      </p:sp>
      <p:sp>
        <p:nvSpPr>
          <p:cNvPr id="11" name="Text 8"/>
          <p:cNvSpPr/>
          <p:nvPr/>
        </p:nvSpPr>
        <p:spPr>
          <a:xfrm>
            <a:off x="6468591" y="2516535"/>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DM Sans Semi Bold" pitchFamily="34" charset="0"/>
                <a:ea typeface="DM Sans Semi Bold" pitchFamily="34" charset="-122"/>
                <a:cs typeface="DM Sans Semi Bold" pitchFamily="34" charset="-120"/>
              </a:rPr>
              <a:t>📊</a:t>
            </a:r>
            <a:r>
              <a:rPr lang="en-US" sz="1200" dirty="0">
                <a:solidFill>
                  <a:srgbClr val="464646"/>
                </a:solidFill>
                <a:latin typeface="DM Sans Semi Bold" pitchFamily="34" charset="0"/>
                <a:ea typeface="DM Sans Semi Bold" pitchFamily="34" charset="-122"/>
                <a:cs typeface="DM Sans Semi Bold" pitchFamily="34" charset="-120"/>
              </a:rPr>
              <a:t> Rich Variables</a:t>
            </a:r>
            <a:endParaRPr lang="en-US" sz="1200" dirty="0"/>
          </a:p>
        </p:txBody>
      </p:sp>
      <p:sp>
        <p:nvSpPr>
          <p:cNvPr id="12" name="Text 9"/>
          <p:cNvSpPr/>
          <p:nvPr/>
        </p:nvSpPr>
        <p:spPr>
          <a:xfrm>
            <a:off x="6468591" y="2779365"/>
            <a:ext cx="2064990" cy="775395"/>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Price, RAM, storage, ratings, reviews, discounts — a multidimensional dataset ideal for EDA and business modeling.</a:t>
            </a:r>
            <a:endParaRPr lang="en-US" sz="950" dirty="0"/>
          </a:p>
        </p:txBody>
      </p:sp>
      <p:sp>
        <p:nvSpPr>
          <p:cNvPr id="13" name="Shape 10"/>
          <p:cNvSpPr/>
          <p:nvPr/>
        </p:nvSpPr>
        <p:spPr>
          <a:xfrm>
            <a:off x="3917379" y="3796978"/>
            <a:ext cx="4738241" cy="894606"/>
          </a:xfrm>
          <a:prstGeom prst="roundRect">
            <a:avLst>
              <a:gd name="adj" fmla="val 2047"/>
            </a:avLst>
          </a:prstGeom>
          <a:solidFill>
            <a:srgbClr val="F2EEEE"/>
          </a:solidFill>
          <a:ln/>
        </p:spPr>
        <p:txBody>
          <a:bodyPr/>
          <a:lstStyle/>
          <a:p>
            <a:endParaRPr lang="en-IN"/>
          </a:p>
        </p:txBody>
      </p:sp>
      <p:sp>
        <p:nvSpPr>
          <p:cNvPr id="14" name="Text 11"/>
          <p:cNvSpPr/>
          <p:nvPr/>
        </p:nvSpPr>
        <p:spPr>
          <a:xfrm>
            <a:off x="4039419" y="3919017"/>
            <a:ext cx="1834307" cy="190723"/>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DM Sans Semi Bold" pitchFamily="34" charset="0"/>
                <a:ea typeface="DM Sans Semi Bold" pitchFamily="34" charset="-122"/>
                <a:cs typeface="DM Sans Semi Bold" pitchFamily="34" charset="-120"/>
              </a:rPr>
              <a:t>🌍</a:t>
            </a:r>
            <a:r>
              <a:rPr lang="en-US" sz="1200" dirty="0">
                <a:solidFill>
                  <a:srgbClr val="464646"/>
                </a:solidFill>
                <a:latin typeface="DM Sans Semi Bold" pitchFamily="34" charset="0"/>
                <a:ea typeface="DM Sans Semi Bold" pitchFamily="34" charset="-122"/>
                <a:cs typeface="DM Sans Semi Bold" pitchFamily="34" charset="-120"/>
              </a:rPr>
              <a:t> Real-World Relevance</a:t>
            </a:r>
            <a:endParaRPr lang="en-US" sz="1200" dirty="0"/>
          </a:p>
        </p:txBody>
      </p:sp>
      <p:sp>
        <p:nvSpPr>
          <p:cNvPr id="15" name="Text 12"/>
          <p:cNvSpPr/>
          <p:nvPr/>
        </p:nvSpPr>
        <p:spPr>
          <a:xfrm>
            <a:off x="4039419" y="4181847"/>
            <a:ext cx="4494163" cy="387697"/>
          </a:xfrm>
          <a:prstGeom prst="rect">
            <a:avLst/>
          </a:prstGeom>
          <a:noFill/>
          <a:ln/>
        </p:spPr>
        <p:txBody>
          <a:bodyPr wrap="square" lIns="0" tIns="0" rIns="0" bIns="0" rtlCol="0" anchor="t"/>
          <a:lstStyle/>
          <a:p>
            <a:pPr>
              <a:lnSpc>
                <a:spcPts val="1500"/>
              </a:lnSpc>
            </a:pPr>
            <a:r>
              <a:rPr lang="en-US" sz="1000" dirty="0">
                <a:solidFill>
                  <a:schemeClr val="tx1">
                    <a:lumMod val="65000"/>
                    <a:lumOff val="35000"/>
                  </a:schemeClr>
                </a:solidFill>
                <a:latin typeface="Inter Medium" panose="020B0604020202020204" charset="0"/>
                <a:ea typeface="Inter Medium" panose="020B0604020202020204" charset="0"/>
              </a:rPr>
              <a:t>The insights from this analysis can help understand customer preferences, pricing strategies, and brand positioning in the real smartphone market.</a:t>
            </a:r>
            <a:endParaRPr lang="en-US" sz="950" dirty="0">
              <a:solidFill>
                <a:schemeClr val="tx1">
                  <a:lumMod val="65000"/>
                  <a:lumOff val="35000"/>
                </a:schemeClr>
              </a:solidFill>
              <a:latin typeface="Inter Medium" panose="020B0604020202020204" charset="0"/>
              <a:ea typeface="Inter Medium" panose="020B0604020202020204" charset="0"/>
            </a:endParaRPr>
          </a:p>
        </p:txBody>
      </p:sp>
      <p:sp>
        <p:nvSpPr>
          <p:cNvPr id="19" name="Freeform 15">
            <a:extLst>
              <a:ext uri="{FF2B5EF4-FFF2-40B4-BE49-F238E27FC236}">
                <a16:creationId xmlns:a16="http://schemas.microsoft.com/office/drawing/2014/main" id="{164FD2DF-E039-EE0B-5FF6-C573D554926A}"/>
              </a:ext>
            </a:extLst>
          </p:cNvPr>
          <p:cNvSpPr/>
          <p:nvPr/>
        </p:nvSpPr>
        <p:spPr>
          <a:xfrm>
            <a:off x="170998" y="734146"/>
            <a:ext cx="3641719" cy="3769274"/>
          </a:xfrm>
          <a:custGeom>
            <a:avLst/>
            <a:gdLst/>
            <a:ahLst/>
            <a:cxnLst/>
            <a:rect l="l" t="t" r="r" b="b"/>
            <a:pathLst>
              <a:path w="6501939" h="6225606">
                <a:moveTo>
                  <a:pt x="0" y="0"/>
                </a:moveTo>
                <a:lnTo>
                  <a:pt x="6501938" y="0"/>
                </a:lnTo>
                <a:lnTo>
                  <a:pt x="6501938" y="6225606"/>
                </a:lnTo>
                <a:lnTo>
                  <a:pt x="0" y="6225606"/>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72901" y="393725"/>
            <a:ext cx="1198438" cy="228079"/>
          </a:xfrm>
          <a:prstGeom prst="roundRect">
            <a:avLst>
              <a:gd name="adj" fmla="val 6221"/>
            </a:avLst>
          </a:prstGeom>
          <a:noFill/>
          <a:ln w="4763">
            <a:solidFill>
              <a:srgbClr val="1C9770"/>
            </a:solidFill>
            <a:prstDash val="solid"/>
          </a:ln>
        </p:spPr>
        <p:txBody>
          <a:bodyPr/>
          <a:lstStyle/>
          <a:p>
            <a:endParaRPr lang="en-IN"/>
          </a:p>
        </p:txBody>
      </p:sp>
      <p:sp>
        <p:nvSpPr>
          <p:cNvPr id="3" name="Text 1"/>
          <p:cNvSpPr/>
          <p:nvPr/>
        </p:nvSpPr>
        <p:spPr>
          <a:xfrm>
            <a:off x="548580" y="433908"/>
            <a:ext cx="1047080" cy="147712"/>
          </a:xfrm>
          <a:prstGeom prst="rect">
            <a:avLst/>
          </a:prstGeom>
          <a:noFill/>
          <a:ln/>
        </p:spPr>
        <p:txBody>
          <a:bodyPr wrap="none" lIns="0" tIns="0" rIns="0" bIns="0" rtlCol="0" anchor="t"/>
          <a:lstStyle/>
          <a:p>
            <a:pPr marL="0" indent="0" algn="l">
              <a:lnSpc>
                <a:spcPts val="1150"/>
              </a:lnSpc>
              <a:buNone/>
            </a:pPr>
            <a:r>
              <a:rPr lang="en-US" sz="700" dirty="0">
                <a:solidFill>
                  <a:srgbClr val="1C9770"/>
                </a:solidFill>
                <a:latin typeface="Inter Medium" pitchFamily="34" charset="0"/>
                <a:ea typeface="Inter Medium" pitchFamily="34" charset="-122"/>
                <a:cs typeface="Inter Medium" pitchFamily="34" charset="-120"/>
              </a:rPr>
              <a:t>PROBLEM STATEMENT</a:t>
            </a:r>
            <a:endParaRPr lang="en-US" sz="700" dirty="0"/>
          </a:p>
        </p:txBody>
      </p:sp>
      <p:sp>
        <p:nvSpPr>
          <p:cNvPr id="4" name="Text 2"/>
          <p:cNvSpPr/>
          <p:nvPr/>
        </p:nvSpPr>
        <p:spPr>
          <a:xfrm>
            <a:off x="472901" y="666824"/>
            <a:ext cx="3637880" cy="369466"/>
          </a:xfrm>
          <a:prstGeom prst="rect">
            <a:avLst/>
          </a:prstGeom>
          <a:noFill/>
          <a:ln/>
        </p:spPr>
        <p:txBody>
          <a:bodyPr wrap="none" lIns="0" tIns="0" rIns="0" bIns="0" rtlCol="0" anchor="t"/>
          <a:lstStyle/>
          <a:p>
            <a:pPr marL="0" indent="0" algn="l">
              <a:lnSpc>
                <a:spcPts val="2900"/>
              </a:lnSpc>
              <a:buNone/>
            </a:pPr>
            <a:r>
              <a:rPr lang="en-US" sz="2300" dirty="0">
                <a:solidFill>
                  <a:srgbClr val="030303"/>
                </a:solidFill>
                <a:latin typeface="DM Sans Semi Bold" pitchFamily="34" charset="0"/>
                <a:ea typeface="DM Sans Semi Bold" pitchFamily="34" charset="-122"/>
                <a:cs typeface="DM Sans Semi Bold" pitchFamily="34" charset="-120"/>
              </a:rPr>
              <a:t>What Are We Solving For?</a:t>
            </a:r>
            <a:endParaRPr lang="en-US" sz="2300" dirty="0"/>
          </a:p>
        </p:txBody>
      </p:sp>
      <p:sp>
        <p:nvSpPr>
          <p:cNvPr id="5" name="Text 3"/>
          <p:cNvSpPr/>
          <p:nvPr/>
        </p:nvSpPr>
        <p:spPr>
          <a:xfrm>
            <a:off x="472901" y="1306637"/>
            <a:ext cx="4379193" cy="738783"/>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This study investigates the structural and behavioral dynamics of the Indian smartphone market as listed on Flipkart. By systematically analyzing pricing, ratings, discount patterns, and hardware specifications, we aim to decode what drives consumer preference and product performance at scale.</a:t>
            </a:r>
            <a:endParaRPr lang="en-US" sz="9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178" y="2175793"/>
            <a:ext cx="177329" cy="177329"/>
          </a:xfrm>
          <a:prstGeom prst="rect">
            <a:avLst/>
          </a:prstGeom>
        </p:spPr>
      </p:pic>
      <p:sp>
        <p:nvSpPr>
          <p:cNvPr id="7" name="Text 4"/>
          <p:cNvSpPr/>
          <p:nvPr/>
        </p:nvSpPr>
        <p:spPr>
          <a:xfrm>
            <a:off x="857027" y="2172146"/>
            <a:ext cx="1752674" cy="184696"/>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Analyze Price Structures</a:t>
            </a:r>
            <a:endParaRPr lang="en-US" sz="1150" dirty="0"/>
          </a:p>
        </p:txBody>
      </p:sp>
      <p:sp>
        <p:nvSpPr>
          <p:cNvPr id="8" name="Text 5"/>
          <p:cNvSpPr/>
          <p:nvPr/>
        </p:nvSpPr>
        <p:spPr>
          <a:xfrm>
            <a:off x="857027" y="2469505"/>
            <a:ext cx="3995068" cy="369391"/>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Decode how price tiers are distributed across brands, RAM, and storage configurations.</a:t>
            </a:r>
            <a:endParaRPr lang="en-US" sz="9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178" y="3067869"/>
            <a:ext cx="177329" cy="177329"/>
          </a:xfrm>
          <a:prstGeom prst="rect">
            <a:avLst/>
          </a:prstGeom>
        </p:spPr>
      </p:pic>
      <p:sp>
        <p:nvSpPr>
          <p:cNvPr id="10" name="Text 6"/>
          <p:cNvSpPr/>
          <p:nvPr/>
        </p:nvSpPr>
        <p:spPr>
          <a:xfrm>
            <a:off x="857027" y="3064222"/>
            <a:ext cx="2471663" cy="184696"/>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Understand Customer Preferences</a:t>
            </a:r>
            <a:endParaRPr lang="en-US" sz="1150" dirty="0"/>
          </a:p>
        </p:txBody>
      </p:sp>
      <p:sp>
        <p:nvSpPr>
          <p:cNvPr id="11" name="Text 7"/>
          <p:cNvSpPr/>
          <p:nvPr/>
        </p:nvSpPr>
        <p:spPr>
          <a:xfrm>
            <a:off x="857027" y="3361581"/>
            <a:ext cx="3995068" cy="369391"/>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Identify which specifications correlate with higher ratings and review volumes.</a:t>
            </a:r>
            <a:endParaRPr lang="en-US" sz="9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178" y="3959944"/>
            <a:ext cx="177329" cy="177329"/>
          </a:xfrm>
          <a:prstGeom prst="rect">
            <a:avLst/>
          </a:prstGeom>
        </p:spPr>
      </p:pic>
      <p:sp>
        <p:nvSpPr>
          <p:cNvPr id="13" name="Text 8"/>
          <p:cNvSpPr/>
          <p:nvPr/>
        </p:nvSpPr>
        <p:spPr>
          <a:xfrm>
            <a:off x="857027" y="3956298"/>
            <a:ext cx="1995339" cy="184696"/>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Evaluate Brand Competition</a:t>
            </a:r>
            <a:endParaRPr lang="en-US" sz="1150" dirty="0"/>
          </a:p>
        </p:txBody>
      </p:sp>
      <p:sp>
        <p:nvSpPr>
          <p:cNvPr id="14" name="Text 9"/>
          <p:cNvSpPr/>
          <p:nvPr/>
        </p:nvSpPr>
        <p:spPr>
          <a:xfrm>
            <a:off x="857027" y="4253657"/>
            <a:ext cx="3995068" cy="369391"/>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Map brand-level positioning and pricing power in a crowded marketplace.</a:t>
            </a:r>
            <a:endParaRPr lang="en-US" sz="900" dirty="0"/>
          </a:p>
        </p:txBody>
      </p:sp>
      <p:sp>
        <p:nvSpPr>
          <p:cNvPr id="15" name="Shape 10"/>
          <p:cNvSpPr/>
          <p:nvPr/>
        </p:nvSpPr>
        <p:spPr>
          <a:xfrm>
            <a:off x="5060156" y="1205285"/>
            <a:ext cx="3700760" cy="3544491"/>
          </a:xfrm>
          <a:prstGeom prst="roundRect">
            <a:avLst>
              <a:gd name="adj" fmla="val 500"/>
            </a:avLst>
          </a:prstGeom>
          <a:solidFill>
            <a:srgbClr val="1C9770"/>
          </a:solidFill>
          <a:ln/>
        </p:spPr>
        <p:txBody>
          <a:bodyPr/>
          <a:lstStyle/>
          <a:p>
            <a:endParaRPr lang="en-IN"/>
          </a:p>
        </p:txBody>
      </p:sp>
      <p:sp>
        <p:nvSpPr>
          <p:cNvPr id="16" name="Text 11"/>
          <p:cNvSpPr/>
          <p:nvPr/>
        </p:nvSpPr>
        <p:spPr>
          <a:xfrm>
            <a:off x="5178326" y="1317947"/>
            <a:ext cx="1477863" cy="184696"/>
          </a:xfrm>
          <a:prstGeom prst="rect">
            <a:avLst/>
          </a:prstGeom>
          <a:noFill/>
          <a:ln/>
        </p:spPr>
        <p:txBody>
          <a:bodyPr wrap="none" lIns="0" tIns="0" rIns="0" bIns="0" rtlCol="0" anchor="t"/>
          <a:lstStyle/>
          <a:p>
            <a:pPr marL="0" indent="0" algn="l">
              <a:lnSpc>
                <a:spcPts val="1450"/>
              </a:lnSpc>
              <a:buNone/>
            </a:pPr>
            <a:r>
              <a:rPr lang="en-US" sz="1150" dirty="0">
                <a:solidFill>
                  <a:srgbClr val="030303"/>
                </a:solidFill>
                <a:latin typeface="DM Sans Semi Bold" pitchFamily="34" charset="0"/>
                <a:ea typeface="DM Sans Semi Bold" pitchFamily="34" charset="-122"/>
                <a:cs typeface="DM Sans Semi Bold" pitchFamily="34" charset="-120"/>
              </a:rPr>
              <a:t>Target Variables</a:t>
            </a:r>
            <a:endParaRPr lang="en-US" sz="1150" dirty="0"/>
          </a:p>
        </p:txBody>
      </p:sp>
      <p:sp>
        <p:nvSpPr>
          <p:cNvPr id="17" name="Text 12"/>
          <p:cNvSpPr/>
          <p:nvPr/>
        </p:nvSpPr>
        <p:spPr>
          <a:xfrm>
            <a:off x="5178326" y="1615306"/>
            <a:ext cx="3464421" cy="369391"/>
          </a:xfrm>
          <a:prstGeom prst="rect">
            <a:avLst/>
          </a:prstGeom>
          <a:noFill/>
          <a:ln/>
        </p:spPr>
        <p:txBody>
          <a:bodyPr wrap="square" lIns="0" tIns="0" rIns="0" bIns="0" rtlCol="0" anchor="t"/>
          <a:lstStyle/>
          <a:p>
            <a:pPr marL="0" indent="0" algn="l">
              <a:lnSpc>
                <a:spcPts val="1450"/>
              </a:lnSpc>
              <a:buNone/>
            </a:pPr>
            <a:r>
              <a:rPr lang="en-US" sz="900" b="1" dirty="0">
                <a:solidFill>
                  <a:srgbClr val="000000"/>
                </a:solidFill>
                <a:latin typeface="Inter Medium" pitchFamily="34" charset="0"/>
                <a:ea typeface="Inter Medium" pitchFamily="34" charset="-122"/>
                <a:cs typeface="Inter Medium" pitchFamily="34" charset="-120"/>
              </a:rPr>
              <a:t>Primary:</a:t>
            </a:r>
            <a:r>
              <a:rPr lang="en-US" sz="900" dirty="0">
                <a:solidFill>
                  <a:srgbClr val="000000"/>
                </a:solidFill>
                <a:latin typeface="Inter Medium" pitchFamily="34" charset="0"/>
                <a:ea typeface="Inter Medium" pitchFamily="34" charset="-122"/>
                <a:cs typeface="Inter Medium" pitchFamily="34" charset="-120"/>
              </a:rPr>
              <a:t> </a:t>
            </a:r>
          </a:p>
          <a:p>
            <a:pPr marL="0" indent="0" algn="l">
              <a:lnSpc>
                <a:spcPts val="1450"/>
              </a:lnSpc>
              <a:buNone/>
            </a:pPr>
            <a:r>
              <a:rPr lang="en-US" sz="900" dirty="0">
                <a:solidFill>
                  <a:srgbClr val="000000"/>
                </a:solidFill>
                <a:latin typeface="Inter Medium" pitchFamily="34" charset="0"/>
                <a:ea typeface="Inter Medium" pitchFamily="34" charset="-122"/>
                <a:cs typeface="Inter Medium" pitchFamily="34" charset="-120"/>
              </a:rPr>
              <a:t>Price — the central economic signal in any market. Influenced by brand, specs, and perception.</a:t>
            </a:r>
            <a:endParaRPr lang="en-US" sz="900" dirty="0"/>
          </a:p>
        </p:txBody>
      </p:sp>
      <p:sp>
        <p:nvSpPr>
          <p:cNvPr id="18" name="Text 13"/>
          <p:cNvSpPr/>
          <p:nvPr/>
        </p:nvSpPr>
        <p:spPr>
          <a:xfrm>
            <a:off x="5178326" y="2307029"/>
            <a:ext cx="3464421" cy="369391"/>
          </a:xfrm>
          <a:prstGeom prst="rect">
            <a:avLst/>
          </a:prstGeom>
          <a:noFill/>
          <a:ln/>
        </p:spPr>
        <p:txBody>
          <a:bodyPr wrap="square" lIns="0" tIns="0" rIns="0" bIns="0" rtlCol="0" anchor="t"/>
          <a:lstStyle/>
          <a:p>
            <a:pPr marL="0" indent="0" algn="l">
              <a:lnSpc>
                <a:spcPts val="1450"/>
              </a:lnSpc>
              <a:buNone/>
            </a:pPr>
            <a:r>
              <a:rPr lang="en-US" sz="900" b="1" dirty="0">
                <a:solidFill>
                  <a:srgbClr val="000000"/>
                </a:solidFill>
                <a:latin typeface="Inter Medium" pitchFamily="34" charset="0"/>
                <a:ea typeface="Inter Medium" pitchFamily="34" charset="-122"/>
                <a:cs typeface="Inter Medium" pitchFamily="34" charset="-120"/>
              </a:rPr>
              <a:t>Secondary:</a:t>
            </a:r>
            <a:r>
              <a:rPr lang="en-US" sz="900" dirty="0">
                <a:solidFill>
                  <a:srgbClr val="000000"/>
                </a:solidFill>
                <a:latin typeface="Inter Medium" pitchFamily="34" charset="0"/>
                <a:ea typeface="Inter Medium" pitchFamily="34" charset="-122"/>
                <a:cs typeface="Inter Medium" pitchFamily="34" charset="-120"/>
              </a:rPr>
              <a:t> </a:t>
            </a:r>
          </a:p>
          <a:p>
            <a:pPr marL="0" indent="0" algn="l">
              <a:lnSpc>
                <a:spcPts val="1450"/>
              </a:lnSpc>
              <a:buNone/>
            </a:pPr>
            <a:r>
              <a:rPr lang="en-US" sz="900" dirty="0">
                <a:solidFill>
                  <a:srgbClr val="000000"/>
                </a:solidFill>
                <a:latin typeface="Inter Medium" pitchFamily="34" charset="0"/>
                <a:ea typeface="Inter Medium" pitchFamily="34" charset="-122"/>
                <a:cs typeface="Inter Medium" pitchFamily="34" charset="-120"/>
              </a:rPr>
              <a:t>Rating — a proxy for consumer satisfaction and product-market fit.</a:t>
            </a:r>
            <a:endParaRPr lang="en-US" sz="900" dirty="0"/>
          </a:p>
        </p:txBody>
      </p:sp>
      <p:sp>
        <p:nvSpPr>
          <p:cNvPr id="19" name="Text 14"/>
          <p:cNvSpPr/>
          <p:nvPr/>
        </p:nvSpPr>
        <p:spPr>
          <a:xfrm>
            <a:off x="5178326" y="2998753"/>
            <a:ext cx="3464421" cy="369391"/>
          </a:xfrm>
          <a:prstGeom prst="rect">
            <a:avLst/>
          </a:prstGeom>
          <a:noFill/>
          <a:ln/>
        </p:spPr>
        <p:txBody>
          <a:bodyPr wrap="square" lIns="0" tIns="0" rIns="0" bIns="0" rtlCol="0" anchor="t"/>
          <a:lstStyle/>
          <a:p>
            <a:pPr marL="0" indent="0" algn="l">
              <a:lnSpc>
                <a:spcPts val="1450"/>
              </a:lnSpc>
              <a:buNone/>
            </a:pPr>
            <a:r>
              <a:rPr lang="en-US" sz="900" b="1" dirty="0">
                <a:solidFill>
                  <a:srgbClr val="000000"/>
                </a:solidFill>
                <a:latin typeface="Inter Medium" pitchFamily="34" charset="0"/>
                <a:ea typeface="Inter Medium" pitchFamily="34" charset="-122"/>
                <a:cs typeface="Inter Medium" pitchFamily="34" charset="-120"/>
              </a:rPr>
              <a:t>Supporting:</a:t>
            </a:r>
            <a:r>
              <a:rPr lang="en-US" sz="900" dirty="0">
                <a:solidFill>
                  <a:srgbClr val="000000"/>
                </a:solidFill>
                <a:latin typeface="Inter Medium" pitchFamily="34" charset="0"/>
                <a:ea typeface="Inter Medium" pitchFamily="34" charset="-122"/>
                <a:cs typeface="Inter Medium" pitchFamily="34" charset="-120"/>
              </a:rPr>
              <a:t> </a:t>
            </a:r>
          </a:p>
          <a:p>
            <a:pPr marL="0" indent="0" algn="l">
              <a:lnSpc>
                <a:spcPts val="1450"/>
              </a:lnSpc>
              <a:buNone/>
            </a:pPr>
            <a:r>
              <a:rPr lang="en-US" sz="900" dirty="0">
                <a:solidFill>
                  <a:srgbClr val="000000"/>
                </a:solidFill>
                <a:latin typeface="Inter Medium" pitchFamily="34" charset="0"/>
                <a:ea typeface="Inter Medium" pitchFamily="34" charset="-122"/>
                <a:cs typeface="Inter Medium" pitchFamily="34" charset="-120"/>
              </a:rPr>
              <a:t>Discount %, Review Count, RAM, Storage — contextual variables that refine interpretation.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41871" y="328910"/>
            <a:ext cx="1421085" cy="199876"/>
          </a:xfrm>
          <a:prstGeom prst="roundRect">
            <a:avLst>
              <a:gd name="adj" fmla="val 6633"/>
            </a:avLst>
          </a:prstGeom>
          <a:solidFill>
            <a:srgbClr val="D4F7EC"/>
          </a:solidFill>
          <a:ln/>
        </p:spPr>
        <p:txBody>
          <a:bodyPr/>
          <a:lstStyle/>
          <a:p>
            <a:endParaRPr lang="en-IN"/>
          </a:p>
        </p:txBody>
      </p:sp>
      <p:sp>
        <p:nvSpPr>
          <p:cNvPr id="3" name="Text 1"/>
          <p:cNvSpPr/>
          <p:nvPr/>
        </p:nvSpPr>
        <p:spPr>
          <a:xfrm>
            <a:off x="508099" y="362024"/>
            <a:ext cx="1288628" cy="133648"/>
          </a:xfrm>
          <a:prstGeom prst="rect">
            <a:avLst/>
          </a:prstGeom>
          <a:noFill/>
          <a:ln/>
        </p:spPr>
        <p:txBody>
          <a:bodyPr wrap="none" lIns="0" tIns="0" rIns="0" bIns="0" rtlCol="0" anchor="t"/>
          <a:lstStyle/>
          <a:p>
            <a:pPr marL="0" indent="0" algn="l">
              <a:lnSpc>
                <a:spcPts val="1050"/>
              </a:lnSpc>
              <a:buNone/>
            </a:pPr>
            <a:r>
              <a:rPr lang="en-US" sz="650" dirty="0">
                <a:solidFill>
                  <a:srgbClr val="464646"/>
                </a:solidFill>
                <a:latin typeface="Inter Medium" pitchFamily="34" charset="0"/>
                <a:ea typeface="Inter Medium" pitchFamily="34" charset="-122"/>
                <a:cs typeface="Inter Medium" pitchFamily="34" charset="-120"/>
              </a:rPr>
              <a:t>DATA SOURCE &amp; COLLECTION</a:t>
            </a:r>
            <a:endParaRPr lang="en-US" sz="650" dirty="0"/>
          </a:p>
        </p:txBody>
      </p:sp>
      <p:sp>
        <p:nvSpPr>
          <p:cNvPr id="4" name="Text 2"/>
          <p:cNvSpPr/>
          <p:nvPr/>
        </p:nvSpPr>
        <p:spPr>
          <a:xfrm>
            <a:off x="441871" y="568077"/>
            <a:ext cx="4052292" cy="345281"/>
          </a:xfrm>
          <a:prstGeom prst="rect">
            <a:avLst/>
          </a:prstGeom>
          <a:noFill/>
          <a:ln/>
        </p:spPr>
        <p:txBody>
          <a:bodyPr wrap="none" lIns="0" tIns="0" rIns="0" bIns="0" rtlCol="0" anchor="t"/>
          <a:lstStyle/>
          <a:p>
            <a:pPr marL="0" indent="0" algn="l">
              <a:lnSpc>
                <a:spcPts val="2700"/>
              </a:lnSpc>
              <a:buNone/>
            </a:pPr>
            <a:r>
              <a:rPr lang="en-US" sz="2150" dirty="0">
                <a:solidFill>
                  <a:srgbClr val="030303"/>
                </a:solidFill>
                <a:latin typeface="DM Sans Semi Bold" pitchFamily="34" charset="0"/>
                <a:ea typeface="DM Sans Semi Bold" pitchFamily="34" charset="-122"/>
                <a:cs typeface="DM Sans Semi Bold" pitchFamily="34" charset="-120"/>
              </a:rPr>
              <a:t>Web Scraping Flipkart at Scale</a:t>
            </a:r>
            <a:endParaRPr lang="en-US" sz="2150" dirty="0"/>
          </a:p>
        </p:txBody>
      </p:sp>
      <p:sp>
        <p:nvSpPr>
          <p:cNvPr id="5" name="Text 3"/>
          <p:cNvSpPr/>
          <p:nvPr/>
        </p:nvSpPr>
        <p:spPr>
          <a:xfrm>
            <a:off x="441871" y="1149474"/>
            <a:ext cx="3995365" cy="668536"/>
          </a:xfrm>
          <a:prstGeom prst="rect">
            <a:avLst/>
          </a:prstGeom>
          <a:noFill/>
          <a:ln/>
        </p:spPr>
        <p:txBody>
          <a:bodyPr wrap="square" lIns="0" tIns="0" rIns="0" bIns="0" rtlCol="0" anchor="t"/>
          <a:lstStyle/>
          <a:p>
            <a:pPr marL="0" indent="0" algn="l">
              <a:lnSpc>
                <a:spcPts val="1300"/>
              </a:lnSpc>
              <a:buNone/>
            </a:pPr>
            <a:r>
              <a:rPr lang="en-US" sz="850" dirty="0">
                <a:solidFill>
                  <a:srgbClr val="464646"/>
                </a:solidFill>
                <a:latin typeface="Inter Medium" pitchFamily="34" charset="0"/>
                <a:ea typeface="Inter Medium" pitchFamily="34" charset="-122"/>
                <a:cs typeface="Inter Medium" pitchFamily="34" charset="-120"/>
              </a:rPr>
              <a:t>All data was programmatically extracted from </a:t>
            </a:r>
            <a:r>
              <a:rPr lang="en-US" sz="850" b="1" dirty="0">
                <a:solidFill>
                  <a:srgbClr val="464646"/>
                </a:solidFill>
                <a:latin typeface="Inter Medium" pitchFamily="34" charset="0"/>
                <a:ea typeface="Inter Medium" pitchFamily="34" charset="-122"/>
                <a:cs typeface="Inter Medium" pitchFamily="34" charset="-120"/>
              </a:rPr>
              <a:t>Flipkart's smartphone listings</a:t>
            </a:r>
            <a:r>
              <a:rPr lang="en-US" sz="850" dirty="0">
                <a:solidFill>
                  <a:srgbClr val="464646"/>
                </a:solidFill>
                <a:latin typeface="Inter Medium" pitchFamily="34" charset="0"/>
                <a:ea typeface="Inter Medium" pitchFamily="34" charset="-122"/>
                <a:cs typeface="Inter Medium" pitchFamily="34" charset="-120"/>
              </a:rPr>
              <a:t> using a custom Python-based web scraping pipeline. The scraper navigated multiple listing pages, parsing structured HTML to capture all key product attributes in a single, clean workflow.</a:t>
            </a:r>
            <a:endParaRPr lang="en-US" sz="850" dirty="0"/>
          </a:p>
        </p:txBody>
      </p:sp>
      <p:sp>
        <p:nvSpPr>
          <p:cNvPr id="6" name="Shape 4"/>
          <p:cNvSpPr/>
          <p:nvPr/>
        </p:nvSpPr>
        <p:spPr>
          <a:xfrm>
            <a:off x="441871" y="1928664"/>
            <a:ext cx="3995365" cy="859482"/>
          </a:xfrm>
          <a:prstGeom prst="roundRect">
            <a:avLst>
              <a:gd name="adj" fmla="val 1928"/>
            </a:avLst>
          </a:prstGeom>
          <a:solidFill>
            <a:srgbClr val="FFFFFF"/>
          </a:solidFill>
          <a:ln w="14288">
            <a:solidFill>
              <a:srgbClr val="D8D4D4"/>
            </a:solidFill>
            <a:prstDash val="solid"/>
          </a:ln>
        </p:spPr>
        <p:txBody>
          <a:bodyPr/>
          <a:lstStyle/>
          <a:p>
            <a:endParaRPr lang="en-IN"/>
          </a:p>
        </p:txBody>
      </p:sp>
      <p:sp>
        <p:nvSpPr>
          <p:cNvPr id="7" name="Shape 5"/>
          <p:cNvSpPr/>
          <p:nvPr/>
        </p:nvSpPr>
        <p:spPr>
          <a:xfrm>
            <a:off x="456158" y="1942951"/>
            <a:ext cx="441871" cy="830907"/>
          </a:xfrm>
          <a:prstGeom prst="rect">
            <a:avLst/>
          </a:prstGeom>
          <a:solidFill>
            <a:srgbClr val="F2EEEE"/>
          </a:solidFill>
          <a:ln/>
        </p:spPr>
        <p:txBody>
          <a:bodyPr/>
          <a:lstStyle/>
          <a:p>
            <a:endParaRPr lang="en-IN"/>
          </a:p>
        </p:txBody>
      </p:sp>
      <p:sp>
        <p:nvSpPr>
          <p:cNvPr id="8" name="Text 6"/>
          <p:cNvSpPr/>
          <p:nvPr/>
        </p:nvSpPr>
        <p:spPr>
          <a:xfrm>
            <a:off x="594271" y="2254821"/>
            <a:ext cx="165646" cy="207094"/>
          </a:xfrm>
          <a:prstGeom prst="rect">
            <a:avLst/>
          </a:prstGeom>
          <a:noFill/>
          <a:ln/>
        </p:spPr>
        <p:txBody>
          <a:bodyPr wrap="none" lIns="0" tIns="0" rIns="0" bIns="0" rtlCol="0" anchor="ctr"/>
          <a:lstStyle/>
          <a:p>
            <a:pPr marL="0" indent="0" algn="ctr">
              <a:lnSpc>
                <a:spcPct val="100000"/>
              </a:lnSpc>
              <a:buNone/>
            </a:pPr>
            <a:r>
              <a:rPr lang="en-US" sz="1300" dirty="0">
                <a:solidFill>
                  <a:srgbClr val="464646"/>
                </a:solidFill>
                <a:latin typeface="DM Sans Semi Bold" pitchFamily="34" charset="0"/>
                <a:ea typeface="DM Sans Semi Bold" pitchFamily="34" charset="-122"/>
                <a:cs typeface="DM Sans Semi Bold" pitchFamily="34" charset="-120"/>
              </a:rPr>
              <a:t>1</a:t>
            </a:r>
            <a:endParaRPr lang="en-US" sz="1300" dirty="0"/>
          </a:p>
        </p:txBody>
      </p:sp>
      <p:sp>
        <p:nvSpPr>
          <p:cNvPr id="9" name="Text 7"/>
          <p:cNvSpPr/>
          <p:nvPr/>
        </p:nvSpPr>
        <p:spPr>
          <a:xfrm>
            <a:off x="996404" y="2053382"/>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464646"/>
                </a:solidFill>
                <a:latin typeface="DM Sans Semi Bold" pitchFamily="34" charset="0"/>
                <a:ea typeface="DM Sans Semi Bold" pitchFamily="34" charset="-122"/>
                <a:cs typeface="DM Sans Semi Bold" pitchFamily="34" charset="-120"/>
              </a:rPr>
              <a:t>HTTP Requests</a:t>
            </a:r>
            <a:endParaRPr lang="en-US" sz="1050" dirty="0"/>
          </a:p>
        </p:txBody>
      </p:sp>
      <p:sp>
        <p:nvSpPr>
          <p:cNvPr id="10" name="Text 8"/>
          <p:cNvSpPr/>
          <p:nvPr/>
        </p:nvSpPr>
        <p:spPr>
          <a:xfrm>
            <a:off x="996404" y="2324398"/>
            <a:ext cx="3316114" cy="339030"/>
          </a:xfrm>
          <a:prstGeom prst="rect">
            <a:avLst/>
          </a:prstGeom>
          <a:noFill/>
          <a:ln/>
        </p:spPr>
        <p:txBody>
          <a:bodyPr wrap="square" lIns="0" tIns="0" rIns="0" bIns="0" rtlCol="0" anchor="t"/>
          <a:lstStyle/>
          <a:p>
            <a:pPr marL="0" indent="0" algn="l">
              <a:lnSpc>
                <a:spcPts val="1300"/>
              </a:lnSpc>
              <a:buNone/>
            </a:pPr>
            <a:r>
              <a:rPr lang="en-US" sz="850" dirty="0">
                <a:solidFill>
                  <a:srgbClr val="464646"/>
                </a:solidFill>
                <a:latin typeface="Inter Medium" pitchFamily="34" charset="0"/>
                <a:ea typeface="Inter Medium" pitchFamily="34" charset="-122"/>
                <a:cs typeface="Inter Medium" pitchFamily="34" charset="-120"/>
              </a:rPr>
              <a:t>Used the </a:t>
            </a:r>
            <a:r>
              <a:rPr lang="en-US" sz="850" dirty="0">
                <a:solidFill>
                  <a:srgbClr val="464646"/>
                </a:solidFill>
                <a:highlight>
                  <a:srgbClr val="F2F2F2"/>
                </a:highlight>
                <a:latin typeface="Consolas" pitchFamily="34" charset="0"/>
                <a:ea typeface="Consolas" pitchFamily="34" charset="-122"/>
                <a:cs typeface="Consolas" pitchFamily="34" charset="-120"/>
              </a:rPr>
              <a:t>requests</a:t>
            </a:r>
            <a:r>
              <a:rPr lang="en-US" sz="850" dirty="0">
                <a:solidFill>
                  <a:srgbClr val="464646"/>
                </a:solidFill>
                <a:latin typeface="Inter Medium" pitchFamily="34" charset="0"/>
                <a:ea typeface="Inter Medium" pitchFamily="34" charset="-122"/>
                <a:cs typeface="Inter Medium" pitchFamily="34" charset="-120"/>
              </a:rPr>
              <a:t> library to fetch raw HTML from Flipkart listing pages with proper headers to bypass bot detection.</a:t>
            </a:r>
            <a:endParaRPr lang="en-US" sz="850" dirty="0"/>
          </a:p>
        </p:txBody>
      </p:sp>
      <p:sp>
        <p:nvSpPr>
          <p:cNvPr id="11" name="Shape 9"/>
          <p:cNvSpPr/>
          <p:nvPr/>
        </p:nvSpPr>
        <p:spPr>
          <a:xfrm>
            <a:off x="441871" y="2886521"/>
            <a:ext cx="3995365" cy="859482"/>
          </a:xfrm>
          <a:prstGeom prst="roundRect">
            <a:avLst>
              <a:gd name="adj" fmla="val 1928"/>
            </a:avLst>
          </a:prstGeom>
          <a:solidFill>
            <a:srgbClr val="FFFFFF"/>
          </a:solidFill>
          <a:ln w="14288">
            <a:solidFill>
              <a:srgbClr val="D8D4D4"/>
            </a:solidFill>
            <a:prstDash val="solid"/>
          </a:ln>
        </p:spPr>
        <p:txBody>
          <a:bodyPr/>
          <a:lstStyle/>
          <a:p>
            <a:endParaRPr lang="en-IN"/>
          </a:p>
        </p:txBody>
      </p:sp>
      <p:sp>
        <p:nvSpPr>
          <p:cNvPr id="12" name="Shape 10"/>
          <p:cNvSpPr/>
          <p:nvPr/>
        </p:nvSpPr>
        <p:spPr>
          <a:xfrm>
            <a:off x="456158" y="2900809"/>
            <a:ext cx="441871" cy="830907"/>
          </a:xfrm>
          <a:prstGeom prst="rect">
            <a:avLst/>
          </a:prstGeom>
          <a:solidFill>
            <a:srgbClr val="F2EEEE"/>
          </a:solidFill>
          <a:ln/>
        </p:spPr>
        <p:txBody>
          <a:bodyPr/>
          <a:lstStyle/>
          <a:p>
            <a:endParaRPr lang="en-IN"/>
          </a:p>
        </p:txBody>
      </p:sp>
      <p:sp>
        <p:nvSpPr>
          <p:cNvPr id="13" name="Text 11"/>
          <p:cNvSpPr/>
          <p:nvPr/>
        </p:nvSpPr>
        <p:spPr>
          <a:xfrm>
            <a:off x="594271" y="3212678"/>
            <a:ext cx="165646" cy="207094"/>
          </a:xfrm>
          <a:prstGeom prst="rect">
            <a:avLst/>
          </a:prstGeom>
          <a:noFill/>
          <a:ln/>
        </p:spPr>
        <p:txBody>
          <a:bodyPr wrap="none" lIns="0" tIns="0" rIns="0" bIns="0" rtlCol="0" anchor="ctr"/>
          <a:lstStyle/>
          <a:p>
            <a:pPr marL="0" indent="0" algn="ctr">
              <a:lnSpc>
                <a:spcPct val="100000"/>
              </a:lnSpc>
              <a:buNone/>
            </a:pPr>
            <a:r>
              <a:rPr lang="en-US" sz="1300" dirty="0">
                <a:solidFill>
                  <a:srgbClr val="464646"/>
                </a:solidFill>
                <a:latin typeface="DM Sans Semi Bold" pitchFamily="34" charset="0"/>
                <a:ea typeface="DM Sans Semi Bold" pitchFamily="34" charset="-122"/>
                <a:cs typeface="DM Sans Semi Bold" pitchFamily="34" charset="-120"/>
              </a:rPr>
              <a:t>2</a:t>
            </a:r>
            <a:endParaRPr lang="en-US" sz="1300" dirty="0"/>
          </a:p>
        </p:txBody>
      </p:sp>
      <p:sp>
        <p:nvSpPr>
          <p:cNvPr id="14" name="Text 12"/>
          <p:cNvSpPr/>
          <p:nvPr/>
        </p:nvSpPr>
        <p:spPr>
          <a:xfrm>
            <a:off x="996404" y="3011239"/>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464646"/>
                </a:solidFill>
                <a:latin typeface="DM Sans Semi Bold" pitchFamily="34" charset="0"/>
                <a:ea typeface="DM Sans Semi Bold" pitchFamily="34" charset="-122"/>
                <a:cs typeface="DM Sans Semi Bold" pitchFamily="34" charset="-120"/>
              </a:rPr>
              <a:t>HTML Parsing</a:t>
            </a:r>
            <a:endParaRPr lang="en-US" sz="1050" dirty="0"/>
          </a:p>
        </p:txBody>
      </p:sp>
      <p:sp>
        <p:nvSpPr>
          <p:cNvPr id="15" name="Text 13"/>
          <p:cNvSpPr/>
          <p:nvPr/>
        </p:nvSpPr>
        <p:spPr>
          <a:xfrm>
            <a:off x="996404" y="3282255"/>
            <a:ext cx="3316114" cy="339030"/>
          </a:xfrm>
          <a:prstGeom prst="rect">
            <a:avLst/>
          </a:prstGeom>
          <a:noFill/>
          <a:ln/>
        </p:spPr>
        <p:txBody>
          <a:bodyPr wrap="square" lIns="0" tIns="0" rIns="0" bIns="0" rtlCol="0" anchor="t"/>
          <a:lstStyle/>
          <a:p>
            <a:pPr marL="0" indent="0" algn="l">
              <a:lnSpc>
                <a:spcPts val="1300"/>
              </a:lnSpc>
              <a:buNone/>
            </a:pPr>
            <a:r>
              <a:rPr lang="en-US" sz="850" dirty="0">
                <a:solidFill>
                  <a:srgbClr val="464646"/>
                </a:solidFill>
                <a:highlight>
                  <a:srgbClr val="F2F2F2"/>
                </a:highlight>
                <a:latin typeface="Consolas" pitchFamily="34" charset="0"/>
                <a:ea typeface="Consolas" pitchFamily="34" charset="-122"/>
                <a:cs typeface="Consolas" pitchFamily="34" charset="-120"/>
              </a:rPr>
              <a:t>BeautifulSoup</a:t>
            </a:r>
            <a:r>
              <a:rPr lang="en-US" sz="850" dirty="0">
                <a:solidFill>
                  <a:srgbClr val="464646"/>
                </a:solidFill>
                <a:latin typeface="Inter Medium" pitchFamily="34" charset="0"/>
                <a:ea typeface="Inter Medium" pitchFamily="34" charset="-122"/>
                <a:cs typeface="Inter Medium" pitchFamily="34" charset="-120"/>
              </a:rPr>
              <a:t> extracted structured product data by targeting CSS class selectors for price, title, rating, and reviews.</a:t>
            </a:r>
            <a:endParaRPr lang="en-US" sz="850" dirty="0"/>
          </a:p>
        </p:txBody>
      </p:sp>
      <p:sp>
        <p:nvSpPr>
          <p:cNvPr id="16" name="Shape 14"/>
          <p:cNvSpPr/>
          <p:nvPr/>
        </p:nvSpPr>
        <p:spPr>
          <a:xfrm>
            <a:off x="441871" y="3844379"/>
            <a:ext cx="3995365" cy="859482"/>
          </a:xfrm>
          <a:prstGeom prst="roundRect">
            <a:avLst>
              <a:gd name="adj" fmla="val 1928"/>
            </a:avLst>
          </a:prstGeom>
          <a:solidFill>
            <a:srgbClr val="FFFFFF"/>
          </a:solidFill>
          <a:ln w="14288">
            <a:solidFill>
              <a:srgbClr val="D8D4D4"/>
            </a:solidFill>
            <a:prstDash val="solid"/>
          </a:ln>
        </p:spPr>
        <p:txBody>
          <a:bodyPr/>
          <a:lstStyle/>
          <a:p>
            <a:endParaRPr lang="en-IN"/>
          </a:p>
        </p:txBody>
      </p:sp>
      <p:sp>
        <p:nvSpPr>
          <p:cNvPr id="17" name="Shape 15"/>
          <p:cNvSpPr/>
          <p:nvPr/>
        </p:nvSpPr>
        <p:spPr>
          <a:xfrm>
            <a:off x="456158" y="3858667"/>
            <a:ext cx="441871" cy="830907"/>
          </a:xfrm>
          <a:prstGeom prst="rect">
            <a:avLst/>
          </a:prstGeom>
          <a:solidFill>
            <a:srgbClr val="F2EEEE"/>
          </a:solidFill>
          <a:ln/>
        </p:spPr>
        <p:txBody>
          <a:bodyPr/>
          <a:lstStyle/>
          <a:p>
            <a:endParaRPr lang="en-IN"/>
          </a:p>
        </p:txBody>
      </p:sp>
      <p:sp>
        <p:nvSpPr>
          <p:cNvPr id="18" name="Text 16"/>
          <p:cNvSpPr/>
          <p:nvPr/>
        </p:nvSpPr>
        <p:spPr>
          <a:xfrm>
            <a:off x="594271" y="4170536"/>
            <a:ext cx="165646" cy="207094"/>
          </a:xfrm>
          <a:prstGeom prst="rect">
            <a:avLst/>
          </a:prstGeom>
          <a:noFill/>
          <a:ln/>
        </p:spPr>
        <p:txBody>
          <a:bodyPr wrap="none" lIns="0" tIns="0" rIns="0" bIns="0" rtlCol="0" anchor="ctr"/>
          <a:lstStyle/>
          <a:p>
            <a:pPr marL="0" indent="0" algn="ctr">
              <a:lnSpc>
                <a:spcPct val="100000"/>
              </a:lnSpc>
              <a:buNone/>
            </a:pPr>
            <a:r>
              <a:rPr lang="en-US" sz="1300" dirty="0">
                <a:solidFill>
                  <a:srgbClr val="464646"/>
                </a:solidFill>
                <a:latin typeface="DM Sans Semi Bold" pitchFamily="34" charset="0"/>
                <a:ea typeface="DM Sans Semi Bold" pitchFamily="34" charset="-122"/>
                <a:cs typeface="DM Sans Semi Bold" pitchFamily="34" charset="-120"/>
              </a:rPr>
              <a:t>3</a:t>
            </a:r>
            <a:endParaRPr lang="en-US" sz="1300" dirty="0"/>
          </a:p>
        </p:txBody>
      </p:sp>
      <p:sp>
        <p:nvSpPr>
          <p:cNvPr id="19" name="Text 17"/>
          <p:cNvSpPr/>
          <p:nvPr/>
        </p:nvSpPr>
        <p:spPr>
          <a:xfrm>
            <a:off x="996404" y="3969097"/>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464646"/>
                </a:solidFill>
                <a:latin typeface="DM Sans Semi Bold" pitchFamily="34" charset="0"/>
                <a:ea typeface="DM Sans Semi Bold" pitchFamily="34" charset="-122"/>
                <a:cs typeface="DM Sans Semi Bold" pitchFamily="34" charset="-120"/>
              </a:rPr>
              <a:t>Data Storage</a:t>
            </a:r>
            <a:endParaRPr lang="en-US" sz="1050" dirty="0"/>
          </a:p>
        </p:txBody>
      </p:sp>
      <p:sp>
        <p:nvSpPr>
          <p:cNvPr id="20" name="Text 18"/>
          <p:cNvSpPr/>
          <p:nvPr/>
        </p:nvSpPr>
        <p:spPr>
          <a:xfrm>
            <a:off x="996404" y="4240113"/>
            <a:ext cx="3316114" cy="339030"/>
          </a:xfrm>
          <a:prstGeom prst="rect">
            <a:avLst/>
          </a:prstGeom>
          <a:noFill/>
          <a:ln/>
        </p:spPr>
        <p:txBody>
          <a:bodyPr wrap="square" lIns="0" tIns="0" rIns="0" bIns="0" rtlCol="0" anchor="t"/>
          <a:lstStyle/>
          <a:p>
            <a:pPr marL="0" indent="0" algn="l">
              <a:lnSpc>
                <a:spcPts val="1300"/>
              </a:lnSpc>
              <a:buNone/>
            </a:pPr>
            <a:r>
              <a:rPr lang="en-US" sz="850" dirty="0">
                <a:solidFill>
                  <a:srgbClr val="464646"/>
                </a:solidFill>
                <a:latin typeface="Inter Medium" pitchFamily="34" charset="0"/>
                <a:ea typeface="Inter Medium" pitchFamily="34" charset="-122"/>
                <a:cs typeface="Inter Medium" pitchFamily="34" charset="-120"/>
              </a:rPr>
              <a:t>Scraped records were loaded into a </a:t>
            </a:r>
            <a:r>
              <a:rPr lang="en-US" sz="850" dirty="0">
                <a:solidFill>
                  <a:srgbClr val="464646"/>
                </a:solidFill>
                <a:highlight>
                  <a:srgbClr val="F2F2F2"/>
                </a:highlight>
                <a:latin typeface="Consolas" pitchFamily="34" charset="0"/>
                <a:ea typeface="Consolas" pitchFamily="34" charset="-122"/>
                <a:cs typeface="Consolas" pitchFamily="34" charset="-120"/>
              </a:rPr>
              <a:t>Pandas</a:t>
            </a:r>
            <a:r>
              <a:rPr lang="en-US" sz="850" dirty="0">
                <a:solidFill>
                  <a:srgbClr val="464646"/>
                </a:solidFill>
                <a:latin typeface="Inter Medium" pitchFamily="34" charset="0"/>
                <a:ea typeface="Inter Medium" pitchFamily="34" charset="-122"/>
                <a:cs typeface="Inter Medium" pitchFamily="34" charset="-120"/>
              </a:rPr>
              <a:t> DataFrame and exported to CSV for downstream cleaning and analysis.</a:t>
            </a:r>
            <a:endParaRPr lang="en-US" sz="850" dirty="0"/>
          </a:p>
        </p:txBody>
      </p:sp>
      <p:sp>
        <p:nvSpPr>
          <p:cNvPr id="21" name="Text 19"/>
          <p:cNvSpPr/>
          <p:nvPr/>
        </p:nvSpPr>
        <p:spPr>
          <a:xfrm>
            <a:off x="4711526" y="1226790"/>
            <a:ext cx="3995365" cy="364554"/>
          </a:xfrm>
          <a:prstGeom prst="rect">
            <a:avLst/>
          </a:prstGeom>
          <a:noFill/>
          <a:ln/>
        </p:spPr>
        <p:txBody>
          <a:bodyPr wrap="none" lIns="0" tIns="0" rIns="0" bIns="0" rtlCol="0" anchor="t"/>
          <a:lstStyle/>
          <a:p>
            <a:pPr marL="0" indent="0" algn="ctr">
              <a:lnSpc>
                <a:spcPts val="2850"/>
              </a:lnSpc>
              <a:buNone/>
            </a:pPr>
            <a:r>
              <a:rPr lang="en-US" sz="2850" dirty="0">
                <a:solidFill>
                  <a:srgbClr val="464646"/>
                </a:solidFill>
                <a:latin typeface="DM Sans Semi Bold" pitchFamily="34" charset="0"/>
                <a:ea typeface="DM Sans Semi Bold" pitchFamily="34" charset="-122"/>
                <a:cs typeface="DM Sans Semi Bold" pitchFamily="34" charset="-120"/>
              </a:rPr>
              <a:t>400+</a:t>
            </a:r>
            <a:endParaRPr lang="en-US" sz="2850" dirty="0"/>
          </a:p>
        </p:txBody>
      </p:sp>
      <p:sp>
        <p:nvSpPr>
          <p:cNvPr id="22" name="Text 20"/>
          <p:cNvSpPr/>
          <p:nvPr/>
        </p:nvSpPr>
        <p:spPr>
          <a:xfrm>
            <a:off x="6018684" y="1720304"/>
            <a:ext cx="1380976" cy="172641"/>
          </a:xfrm>
          <a:prstGeom prst="rect">
            <a:avLst/>
          </a:prstGeom>
          <a:noFill/>
          <a:ln/>
        </p:spPr>
        <p:txBody>
          <a:bodyPr wrap="none" lIns="0" tIns="0" rIns="0" bIns="0" rtlCol="0" anchor="t"/>
          <a:lstStyle/>
          <a:p>
            <a:pPr marL="0" indent="0" algn="ctr">
              <a:lnSpc>
                <a:spcPts val="1350"/>
              </a:lnSpc>
              <a:buNone/>
            </a:pPr>
            <a:r>
              <a:rPr lang="en-US" sz="1050" dirty="0">
                <a:solidFill>
                  <a:srgbClr val="464646"/>
                </a:solidFill>
                <a:latin typeface="DM Sans Semi Bold" pitchFamily="34" charset="0"/>
                <a:ea typeface="DM Sans Semi Bold" pitchFamily="34" charset="-122"/>
                <a:cs typeface="DM Sans Semi Bold" pitchFamily="34" charset="-120"/>
              </a:rPr>
              <a:t>Rows Scraped</a:t>
            </a:r>
            <a:endParaRPr lang="en-US" sz="1050" dirty="0"/>
          </a:p>
        </p:txBody>
      </p:sp>
      <p:sp>
        <p:nvSpPr>
          <p:cNvPr id="23" name="Text 21"/>
          <p:cNvSpPr/>
          <p:nvPr/>
        </p:nvSpPr>
        <p:spPr>
          <a:xfrm>
            <a:off x="4711526" y="1991320"/>
            <a:ext cx="3995365" cy="167134"/>
          </a:xfrm>
          <a:prstGeom prst="rect">
            <a:avLst/>
          </a:prstGeom>
          <a:noFill/>
          <a:ln/>
        </p:spPr>
        <p:txBody>
          <a:bodyPr wrap="none" lIns="0" tIns="0" rIns="0" bIns="0" rtlCol="0" anchor="t"/>
          <a:lstStyle/>
          <a:p>
            <a:pPr marL="0" indent="0" algn="ctr">
              <a:lnSpc>
                <a:spcPts val="1300"/>
              </a:lnSpc>
              <a:buNone/>
            </a:pPr>
            <a:r>
              <a:rPr lang="en-US" sz="850" dirty="0">
                <a:solidFill>
                  <a:srgbClr val="464646"/>
                </a:solidFill>
                <a:latin typeface="Inter Medium" pitchFamily="34" charset="0"/>
                <a:ea typeface="Inter Medium" pitchFamily="34" charset="-122"/>
                <a:cs typeface="Inter Medium" pitchFamily="34" charset="-120"/>
              </a:rPr>
              <a:t>Product listings across multiple Flipkart pages</a:t>
            </a:r>
            <a:endParaRPr lang="en-US" sz="850" dirty="0"/>
          </a:p>
        </p:txBody>
      </p:sp>
      <p:sp>
        <p:nvSpPr>
          <p:cNvPr id="24" name="Text 22"/>
          <p:cNvSpPr/>
          <p:nvPr/>
        </p:nvSpPr>
        <p:spPr>
          <a:xfrm>
            <a:off x="4711526" y="2410420"/>
            <a:ext cx="3995365" cy="364554"/>
          </a:xfrm>
          <a:prstGeom prst="rect">
            <a:avLst/>
          </a:prstGeom>
          <a:noFill/>
          <a:ln/>
        </p:spPr>
        <p:txBody>
          <a:bodyPr wrap="none" lIns="0" tIns="0" rIns="0" bIns="0" rtlCol="0" anchor="t"/>
          <a:lstStyle/>
          <a:p>
            <a:pPr marL="0" indent="0" algn="ctr">
              <a:lnSpc>
                <a:spcPts val="2850"/>
              </a:lnSpc>
              <a:buNone/>
            </a:pPr>
            <a:r>
              <a:rPr lang="en-US" sz="2850" dirty="0">
                <a:solidFill>
                  <a:srgbClr val="464646"/>
                </a:solidFill>
                <a:latin typeface="DM Sans Semi Bold" pitchFamily="34" charset="0"/>
                <a:ea typeface="DM Sans Semi Bold" pitchFamily="34" charset="-122"/>
                <a:cs typeface="DM Sans Semi Bold" pitchFamily="34" charset="-120"/>
              </a:rPr>
              <a:t>8+</a:t>
            </a:r>
            <a:endParaRPr lang="en-US" sz="2850" dirty="0"/>
          </a:p>
        </p:txBody>
      </p:sp>
      <p:sp>
        <p:nvSpPr>
          <p:cNvPr id="25" name="Text 23"/>
          <p:cNvSpPr/>
          <p:nvPr/>
        </p:nvSpPr>
        <p:spPr>
          <a:xfrm>
            <a:off x="6018684" y="2903934"/>
            <a:ext cx="1380976" cy="172641"/>
          </a:xfrm>
          <a:prstGeom prst="rect">
            <a:avLst/>
          </a:prstGeom>
          <a:noFill/>
          <a:ln/>
        </p:spPr>
        <p:txBody>
          <a:bodyPr wrap="none" lIns="0" tIns="0" rIns="0" bIns="0" rtlCol="0" anchor="t"/>
          <a:lstStyle/>
          <a:p>
            <a:pPr marL="0" indent="0" algn="ctr">
              <a:lnSpc>
                <a:spcPts val="1350"/>
              </a:lnSpc>
              <a:buNone/>
            </a:pPr>
            <a:r>
              <a:rPr lang="en-US" sz="1050" dirty="0">
                <a:solidFill>
                  <a:srgbClr val="464646"/>
                </a:solidFill>
                <a:latin typeface="DM Sans Semi Bold" pitchFamily="34" charset="0"/>
                <a:ea typeface="DM Sans Semi Bold" pitchFamily="34" charset="-122"/>
                <a:cs typeface="DM Sans Semi Bold" pitchFamily="34" charset="-120"/>
              </a:rPr>
              <a:t>Variables</a:t>
            </a:r>
            <a:endParaRPr lang="en-US" sz="1050" dirty="0"/>
          </a:p>
        </p:txBody>
      </p:sp>
      <p:sp>
        <p:nvSpPr>
          <p:cNvPr id="26" name="Text 24"/>
          <p:cNvSpPr/>
          <p:nvPr/>
        </p:nvSpPr>
        <p:spPr>
          <a:xfrm>
            <a:off x="4711526" y="3174950"/>
            <a:ext cx="3995365" cy="167134"/>
          </a:xfrm>
          <a:prstGeom prst="rect">
            <a:avLst/>
          </a:prstGeom>
          <a:noFill/>
          <a:ln/>
        </p:spPr>
        <p:txBody>
          <a:bodyPr wrap="none" lIns="0" tIns="0" rIns="0" bIns="0" rtlCol="0" anchor="t"/>
          <a:lstStyle/>
          <a:p>
            <a:pPr marL="0" indent="0" algn="ctr">
              <a:lnSpc>
                <a:spcPts val="1300"/>
              </a:lnSpc>
              <a:buNone/>
            </a:pPr>
            <a:r>
              <a:rPr lang="en-US" sz="850" dirty="0">
                <a:solidFill>
                  <a:srgbClr val="464646"/>
                </a:solidFill>
                <a:latin typeface="Inter Medium" pitchFamily="34" charset="0"/>
                <a:ea typeface="Inter Medium" pitchFamily="34" charset="-122"/>
                <a:cs typeface="Inter Medium" pitchFamily="34" charset="-120"/>
              </a:rPr>
              <a:t>Price, rating, reviews, discount, RAM, storage, brand</a:t>
            </a:r>
            <a:endParaRPr lang="en-US" sz="850" dirty="0"/>
          </a:p>
        </p:txBody>
      </p:sp>
      <p:sp>
        <p:nvSpPr>
          <p:cNvPr id="27" name="Shape 25"/>
          <p:cNvSpPr/>
          <p:nvPr/>
        </p:nvSpPr>
        <p:spPr>
          <a:xfrm>
            <a:off x="4711526" y="3452738"/>
            <a:ext cx="3995365" cy="604019"/>
          </a:xfrm>
          <a:prstGeom prst="roundRect">
            <a:avLst>
              <a:gd name="adj" fmla="val 2744"/>
            </a:avLst>
          </a:prstGeom>
          <a:solidFill>
            <a:srgbClr val="B6D6FC"/>
          </a:solidFill>
          <a:ln/>
        </p:spPr>
        <p:txBody>
          <a:bodyPr/>
          <a:lstStyle/>
          <a:p>
            <a:endParaRPr lang="en-IN"/>
          </a:p>
        </p:txBody>
      </p:sp>
      <p:pic>
        <p:nvPicPr>
          <p:cNvPr id="28" name="Image 0" descr="preencoded.png"/>
          <p:cNvPicPr>
            <a:picLocks noChangeAspect="1"/>
          </p:cNvPicPr>
          <p:nvPr/>
        </p:nvPicPr>
        <p:blipFill>
          <a:blip r:embed="rId3"/>
          <a:stretch>
            <a:fillRect/>
          </a:stretch>
        </p:blipFill>
        <p:spPr>
          <a:xfrm>
            <a:off x="4821957" y="3613175"/>
            <a:ext cx="138038" cy="110430"/>
          </a:xfrm>
          <a:prstGeom prst="rect">
            <a:avLst/>
          </a:prstGeom>
        </p:spPr>
      </p:pic>
      <p:sp>
        <p:nvSpPr>
          <p:cNvPr id="29" name="Text 26"/>
          <p:cNvSpPr/>
          <p:nvPr/>
        </p:nvSpPr>
        <p:spPr>
          <a:xfrm>
            <a:off x="5070425" y="3578721"/>
            <a:ext cx="3526036" cy="334268"/>
          </a:xfrm>
          <a:prstGeom prst="rect">
            <a:avLst/>
          </a:prstGeom>
          <a:noFill/>
          <a:ln/>
        </p:spPr>
        <p:txBody>
          <a:bodyPr wrap="square" lIns="0" tIns="0" rIns="0" bIns="0" rtlCol="0" anchor="t"/>
          <a:lstStyle/>
          <a:p>
            <a:pPr marL="0" indent="0" algn="l">
              <a:lnSpc>
                <a:spcPts val="1300"/>
              </a:lnSpc>
              <a:buNone/>
            </a:pPr>
            <a:r>
              <a:rPr lang="en-US" sz="850" b="1" dirty="0">
                <a:solidFill>
                  <a:srgbClr val="000000"/>
                </a:solidFill>
                <a:latin typeface="Inter Medium" pitchFamily="34" charset="0"/>
                <a:ea typeface="Inter Medium" pitchFamily="34" charset="-122"/>
                <a:cs typeface="Inter Medium" pitchFamily="34" charset="-120"/>
              </a:rPr>
              <a:t>Tech Stack:</a:t>
            </a:r>
            <a:r>
              <a:rPr lang="en-US" sz="850" dirty="0">
                <a:solidFill>
                  <a:srgbClr val="000000"/>
                </a:solidFill>
                <a:latin typeface="Inter Medium" pitchFamily="34" charset="0"/>
                <a:ea typeface="Inter Medium" pitchFamily="34" charset="-122"/>
                <a:cs typeface="Inter Medium" pitchFamily="34" charset="-120"/>
              </a:rPr>
              <a:t> Python 3 · Requests · BeautifulSoup4 · Pandas · Regex · Jupyter Notebook</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1643" y="253810"/>
            <a:ext cx="883593" cy="244734"/>
          </a:xfrm>
          <a:prstGeom prst="roundRect">
            <a:avLst>
              <a:gd name="adj" fmla="val 6446"/>
            </a:avLst>
          </a:prstGeom>
          <a:noFill/>
          <a:ln w="4763">
            <a:solidFill>
              <a:srgbClr val="1C9770"/>
            </a:solidFill>
            <a:prstDash val="solid"/>
          </a:ln>
        </p:spPr>
        <p:txBody>
          <a:bodyPr/>
          <a:lstStyle/>
          <a:p>
            <a:endParaRPr lang="en-IN" sz="2400"/>
          </a:p>
        </p:txBody>
      </p:sp>
      <p:sp>
        <p:nvSpPr>
          <p:cNvPr id="3" name="Text 1"/>
          <p:cNvSpPr/>
          <p:nvPr/>
        </p:nvSpPr>
        <p:spPr>
          <a:xfrm>
            <a:off x="588020" y="341694"/>
            <a:ext cx="648295" cy="120104"/>
          </a:xfrm>
          <a:prstGeom prst="rect">
            <a:avLst/>
          </a:prstGeom>
          <a:noFill/>
          <a:ln/>
        </p:spPr>
        <p:txBody>
          <a:bodyPr wrap="none" lIns="0" tIns="0" rIns="0" bIns="0" rtlCol="0" anchor="t"/>
          <a:lstStyle/>
          <a:p>
            <a:pPr marL="0" indent="0" algn="l">
              <a:lnSpc>
                <a:spcPts val="900"/>
              </a:lnSpc>
              <a:buNone/>
            </a:pPr>
            <a:r>
              <a:rPr lang="en-US" sz="800" dirty="0">
                <a:solidFill>
                  <a:srgbClr val="1C9770"/>
                </a:solidFill>
                <a:latin typeface="Inter Medium" pitchFamily="34" charset="0"/>
                <a:ea typeface="Inter Medium" pitchFamily="34" charset="-122"/>
                <a:cs typeface="Inter Medium" pitchFamily="34" charset="-120"/>
              </a:rPr>
              <a:t>METHODOLOGY</a:t>
            </a:r>
            <a:endParaRPr lang="en-US" sz="800" dirty="0"/>
          </a:p>
        </p:txBody>
      </p:sp>
      <p:sp>
        <p:nvSpPr>
          <p:cNvPr id="4" name="Text 2"/>
          <p:cNvSpPr/>
          <p:nvPr/>
        </p:nvSpPr>
        <p:spPr>
          <a:xfrm>
            <a:off x="521643" y="592336"/>
            <a:ext cx="4265861" cy="320948"/>
          </a:xfrm>
          <a:prstGeom prst="rect">
            <a:avLst/>
          </a:prstGeom>
          <a:noFill/>
          <a:ln/>
        </p:spPr>
        <p:txBody>
          <a:bodyPr wrap="none" lIns="0" tIns="0" rIns="0" bIns="0" rtlCol="0" anchor="t"/>
          <a:lstStyle/>
          <a:p>
            <a:pPr marL="0" indent="0" algn="l">
              <a:lnSpc>
                <a:spcPts val="2500"/>
              </a:lnSpc>
              <a:buNone/>
            </a:pPr>
            <a:r>
              <a:rPr lang="en-US" sz="2400" dirty="0">
                <a:solidFill>
                  <a:srgbClr val="030303"/>
                </a:solidFill>
                <a:latin typeface="DM Sans Semi Bold" pitchFamily="34" charset="0"/>
                <a:ea typeface="DM Sans Semi Bold" pitchFamily="34" charset="-122"/>
                <a:cs typeface="DM Sans Semi Bold" pitchFamily="34" charset="-120"/>
              </a:rPr>
              <a:t>End-to-End Data Analysis Pipeline</a:t>
            </a:r>
            <a:endParaRPr lang="en-US" sz="2400" dirty="0"/>
          </a:p>
        </p:txBody>
      </p:sp>
      <p:sp>
        <p:nvSpPr>
          <p:cNvPr id="5" name="Text 3"/>
          <p:cNvSpPr/>
          <p:nvPr/>
        </p:nvSpPr>
        <p:spPr>
          <a:xfrm>
            <a:off x="521643" y="1002729"/>
            <a:ext cx="8100640" cy="150168"/>
          </a:xfrm>
          <a:prstGeom prst="rect">
            <a:avLst/>
          </a:prstGeom>
          <a:noFill/>
          <a:ln/>
        </p:spPr>
        <p:txBody>
          <a:bodyPr wrap="none" lIns="0" tIns="0" rIns="0" bIns="0" rtlCol="0" anchor="t"/>
          <a:lstStyle/>
          <a:p>
            <a:pPr marL="0" indent="0">
              <a:lnSpc>
                <a:spcPts val="1150"/>
              </a:lnSpc>
              <a:buNone/>
            </a:pPr>
            <a:r>
              <a:rPr lang="en-US" sz="800" dirty="0">
                <a:solidFill>
                  <a:srgbClr val="464646"/>
                </a:solidFill>
                <a:latin typeface="Inter Medium" pitchFamily="34" charset="0"/>
                <a:ea typeface="Inter Medium" pitchFamily="34" charset="-122"/>
                <a:cs typeface="Inter Medium" pitchFamily="34" charset="-120"/>
              </a:rPr>
              <a:t>A structured, six-phase workflow — from raw HTML data to actionable market intelligence.</a:t>
            </a:r>
            <a:endParaRPr lang="en-US" sz="800" dirty="0"/>
          </a:p>
        </p:txBody>
      </p:sp>
      <p:pic>
        <p:nvPicPr>
          <p:cNvPr id="6" name="Image 0" descr="preencoded.png"/>
          <p:cNvPicPr>
            <a:picLocks noChangeAspect="1"/>
          </p:cNvPicPr>
          <p:nvPr/>
        </p:nvPicPr>
        <p:blipFill>
          <a:blip r:embed="rId3"/>
          <a:stretch>
            <a:fillRect/>
          </a:stretch>
        </p:blipFill>
        <p:spPr>
          <a:xfrm>
            <a:off x="521643" y="1256214"/>
            <a:ext cx="513606" cy="616297"/>
          </a:xfrm>
          <a:prstGeom prst="rect">
            <a:avLst/>
          </a:prstGeom>
        </p:spPr>
      </p:pic>
      <p:sp>
        <p:nvSpPr>
          <p:cNvPr id="7" name="Text 4"/>
          <p:cNvSpPr/>
          <p:nvPr/>
        </p:nvSpPr>
        <p:spPr>
          <a:xfrm>
            <a:off x="1120304" y="1358905"/>
            <a:ext cx="1284015" cy="160511"/>
          </a:xfrm>
          <a:prstGeom prst="rect">
            <a:avLst/>
          </a:prstGeom>
          <a:noFill/>
          <a:ln/>
        </p:spPr>
        <p:txBody>
          <a:bodyPr wrap="none" lIns="0" tIns="0" rIns="0" bIns="0" rtlCol="0" anchor="t"/>
          <a:lstStyle/>
          <a:p>
            <a:pPr marL="0" indent="0" algn="l">
              <a:lnSpc>
                <a:spcPts val="1250"/>
              </a:lnSpc>
              <a:buNone/>
            </a:pPr>
            <a:r>
              <a:rPr lang="en-US" sz="1100" dirty="0">
                <a:solidFill>
                  <a:srgbClr val="464646"/>
                </a:solidFill>
                <a:latin typeface="DM Sans Semi Bold" pitchFamily="34" charset="0"/>
                <a:ea typeface="DM Sans Semi Bold" pitchFamily="34" charset="-122"/>
                <a:cs typeface="DM Sans Semi Bold" pitchFamily="34" charset="-120"/>
              </a:rPr>
              <a:t>1. Ingestion</a:t>
            </a:r>
            <a:endParaRPr lang="en-US" sz="1100" dirty="0"/>
          </a:p>
        </p:txBody>
      </p:sp>
      <p:sp>
        <p:nvSpPr>
          <p:cNvPr id="8" name="Text 5"/>
          <p:cNvSpPr/>
          <p:nvPr/>
        </p:nvSpPr>
        <p:spPr>
          <a:xfrm>
            <a:off x="1120304" y="1562770"/>
            <a:ext cx="7501979" cy="150168"/>
          </a:xfrm>
          <a:prstGeom prst="rect">
            <a:avLst/>
          </a:prstGeom>
          <a:noFill/>
          <a:ln/>
        </p:spPr>
        <p:txBody>
          <a:bodyPr wrap="none" lIns="0" tIns="0" rIns="0" bIns="0" rtlCol="0" anchor="t"/>
          <a:lstStyle/>
          <a:p>
            <a:pPr marL="0" indent="0" algn="l">
              <a:lnSpc>
                <a:spcPts val="1150"/>
              </a:lnSpc>
              <a:buNone/>
            </a:pPr>
            <a:r>
              <a:rPr lang="en-US" sz="900" dirty="0">
                <a:solidFill>
                  <a:srgbClr val="464646"/>
                </a:solidFill>
                <a:latin typeface="Inter Medium" pitchFamily="34" charset="0"/>
                <a:ea typeface="Inter Medium" pitchFamily="34" charset="-122"/>
                <a:cs typeface="Inter Medium" pitchFamily="34" charset="-120"/>
              </a:rPr>
              <a:t>Web scraping raw data from Flipkart into a structured DataFrame</a:t>
            </a:r>
            <a:endParaRPr lang="en-US" sz="900" dirty="0"/>
          </a:p>
        </p:txBody>
      </p:sp>
      <p:pic>
        <p:nvPicPr>
          <p:cNvPr id="9" name="Image 1" descr="preencoded.png"/>
          <p:cNvPicPr>
            <a:picLocks noChangeAspect="1"/>
          </p:cNvPicPr>
          <p:nvPr/>
        </p:nvPicPr>
        <p:blipFill>
          <a:blip r:embed="rId4"/>
          <a:stretch>
            <a:fillRect/>
          </a:stretch>
        </p:blipFill>
        <p:spPr>
          <a:xfrm>
            <a:off x="521643" y="1872511"/>
            <a:ext cx="513606" cy="616297"/>
          </a:xfrm>
          <a:prstGeom prst="rect">
            <a:avLst/>
          </a:prstGeom>
        </p:spPr>
      </p:pic>
      <p:sp>
        <p:nvSpPr>
          <p:cNvPr id="10" name="Text 6"/>
          <p:cNvSpPr/>
          <p:nvPr/>
        </p:nvSpPr>
        <p:spPr>
          <a:xfrm>
            <a:off x="1120304" y="1975202"/>
            <a:ext cx="1284015" cy="160511"/>
          </a:xfrm>
          <a:prstGeom prst="rect">
            <a:avLst/>
          </a:prstGeom>
          <a:noFill/>
          <a:ln/>
        </p:spPr>
        <p:txBody>
          <a:bodyPr wrap="none" lIns="0" tIns="0" rIns="0" bIns="0" rtlCol="0" anchor="t"/>
          <a:lstStyle/>
          <a:p>
            <a:pPr marL="0" indent="0" algn="l">
              <a:lnSpc>
                <a:spcPts val="1250"/>
              </a:lnSpc>
              <a:buNone/>
            </a:pPr>
            <a:r>
              <a:rPr lang="en-US" sz="1100" dirty="0">
                <a:solidFill>
                  <a:srgbClr val="464646"/>
                </a:solidFill>
                <a:latin typeface="DM Sans Semi Bold" pitchFamily="34" charset="0"/>
                <a:ea typeface="DM Sans Semi Bold" pitchFamily="34" charset="-122"/>
                <a:cs typeface="DM Sans Semi Bold" pitchFamily="34" charset="-120"/>
              </a:rPr>
              <a:t>2. Cleaning</a:t>
            </a:r>
            <a:endParaRPr lang="en-US" sz="1100" dirty="0"/>
          </a:p>
        </p:txBody>
      </p:sp>
      <p:sp>
        <p:nvSpPr>
          <p:cNvPr id="11" name="Text 7"/>
          <p:cNvSpPr/>
          <p:nvPr/>
        </p:nvSpPr>
        <p:spPr>
          <a:xfrm>
            <a:off x="1120304" y="2179067"/>
            <a:ext cx="7501979" cy="150168"/>
          </a:xfrm>
          <a:prstGeom prst="rect">
            <a:avLst/>
          </a:prstGeom>
          <a:noFill/>
          <a:ln/>
        </p:spPr>
        <p:txBody>
          <a:bodyPr wrap="none" lIns="0" tIns="0" rIns="0" bIns="0" rtlCol="0" anchor="t"/>
          <a:lstStyle/>
          <a:p>
            <a:pPr marL="0" indent="0" algn="l">
              <a:lnSpc>
                <a:spcPts val="1150"/>
              </a:lnSpc>
              <a:buNone/>
            </a:pPr>
            <a:r>
              <a:rPr lang="en-US" sz="900" dirty="0">
                <a:solidFill>
                  <a:srgbClr val="464646"/>
                </a:solidFill>
                <a:latin typeface="Inter Medium" pitchFamily="34" charset="0"/>
                <a:ea typeface="Inter Medium" pitchFamily="34" charset="-122"/>
                <a:cs typeface="Inter Medium" pitchFamily="34" charset="-120"/>
              </a:rPr>
              <a:t>Null treatment, deduplication, type conversion, regex parsing</a:t>
            </a:r>
            <a:endParaRPr lang="en-US" sz="900" dirty="0"/>
          </a:p>
        </p:txBody>
      </p:sp>
      <p:pic>
        <p:nvPicPr>
          <p:cNvPr id="12" name="Image 2" descr="preencoded.png"/>
          <p:cNvPicPr>
            <a:picLocks noChangeAspect="1"/>
          </p:cNvPicPr>
          <p:nvPr/>
        </p:nvPicPr>
        <p:blipFill>
          <a:blip r:embed="rId5"/>
          <a:stretch>
            <a:fillRect/>
          </a:stretch>
        </p:blipFill>
        <p:spPr>
          <a:xfrm>
            <a:off x="521643" y="2488808"/>
            <a:ext cx="513606" cy="616297"/>
          </a:xfrm>
          <a:prstGeom prst="rect">
            <a:avLst/>
          </a:prstGeom>
        </p:spPr>
      </p:pic>
      <p:sp>
        <p:nvSpPr>
          <p:cNvPr id="13" name="Text 8"/>
          <p:cNvSpPr/>
          <p:nvPr/>
        </p:nvSpPr>
        <p:spPr>
          <a:xfrm>
            <a:off x="1120304" y="2591499"/>
            <a:ext cx="1370707" cy="160511"/>
          </a:xfrm>
          <a:prstGeom prst="rect">
            <a:avLst/>
          </a:prstGeom>
          <a:noFill/>
          <a:ln/>
        </p:spPr>
        <p:txBody>
          <a:bodyPr wrap="none" lIns="0" tIns="0" rIns="0" bIns="0" rtlCol="0" anchor="t"/>
          <a:lstStyle/>
          <a:p>
            <a:pPr marL="0" indent="0" algn="l">
              <a:lnSpc>
                <a:spcPts val="1250"/>
              </a:lnSpc>
              <a:buNone/>
            </a:pPr>
            <a:r>
              <a:rPr lang="en-US" sz="1100" dirty="0">
                <a:solidFill>
                  <a:srgbClr val="464646"/>
                </a:solidFill>
                <a:latin typeface="DM Sans Semi Bold" pitchFamily="34" charset="0"/>
                <a:ea typeface="DM Sans Semi Bold" pitchFamily="34" charset="-122"/>
                <a:cs typeface="DM Sans Semi Bold" pitchFamily="34" charset="-120"/>
              </a:rPr>
              <a:t>3. Feature Engineering</a:t>
            </a:r>
            <a:endParaRPr lang="en-US" sz="1100" dirty="0"/>
          </a:p>
        </p:txBody>
      </p:sp>
      <p:sp>
        <p:nvSpPr>
          <p:cNvPr id="14" name="Text 9"/>
          <p:cNvSpPr/>
          <p:nvPr/>
        </p:nvSpPr>
        <p:spPr>
          <a:xfrm>
            <a:off x="1120304" y="2795364"/>
            <a:ext cx="7501979" cy="150168"/>
          </a:xfrm>
          <a:prstGeom prst="rect">
            <a:avLst/>
          </a:prstGeom>
          <a:noFill/>
          <a:ln/>
        </p:spPr>
        <p:txBody>
          <a:bodyPr wrap="none" lIns="0" tIns="0" rIns="0" bIns="0" rtlCol="0" anchor="t"/>
          <a:lstStyle/>
          <a:p>
            <a:pPr marL="0" indent="0" algn="l">
              <a:lnSpc>
                <a:spcPts val="1150"/>
              </a:lnSpc>
              <a:buNone/>
            </a:pPr>
            <a:r>
              <a:rPr lang="en-US" sz="900" dirty="0">
                <a:solidFill>
                  <a:srgbClr val="464646"/>
                </a:solidFill>
                <a:latin typeface="Inter Medium" pitchFamily="34" charset="0"/>
                <a:ea typeface="Inter Medium" pitchFamily="34" charset="-122"/>
                <a:cs typeface="Inter Medium" pitchFamily="34" charset="-120"/>
              </a:rPr>
              <a:t>Extracting RAM, Storage, and Brand from raw product name strings</a:t>
            </a:r>
            <a:endParaRPr lang="en-US" sz="900" dirty="0"/>
          </a:p>
        </p:txBody>
      </p:sp>
      <p:pic>
        <p:nvPicPr>
          <p:cNvPr id="15" name="Image 3" descr="preencoded.png"/>
          <p:cNvPicPr>
            <a:picLocks noChangeAspect="1"/>
          </p:cNvPicPr>
          <p:nvPr/>
        </p:nvPicPr>
        <p:blipFill>
          <a:blip r:embed="rId6"/>
          <a:stretch>
            <a:fillRect/>
          </a:stretch>
        </p:blipFill>
        <p:spPr>
          <a:xfrm>
            <a:off x="521643" y="3105105"/>
            <a:ext cx="513606" cy="616297"/>
          </a:xfrm>
          <a:prstGeom prst="rect">
            <a:avLst/>
          </a:prstGeom>
        </p:spPr>
      </p:pic>
      <p:sp>
        <p:nvSpPr>
          <p:cNvPr id="16" name="Text 10"/>
          <p:cNvSpPr/>
          <p:nvPr/>
        </p:nvSpPr>
        <p:spPr>
          <a:xfrm>
            <a:off x="1120304" y="3207797"/>
            <a:ext cx="1284015" cy="160511"/>
          </a:xfrm>
          <a:prstGeom prst="rect">
            <a:avLst/>
          </a:prstGeom>
          <a:noFill/>
          <a:ln/>
        </p:spPr>
        <p:txBody>
          <a:bodyPr wrap="none" lIns="0" tIns="0" rIns="0" bIns="0" rtlCol="0" anchor="t"/>
          <a:lstStyle/>
          <a:p>
            <a:pPr marL="0" indent="0" algn="l">
              <a:lnSpc>
                <a:spcPts val="1250"/>
              </a:lnSpc>
              <a:buNone/>
            </a:pPr>
            <a:r>
              <a:rPr lang="en-US" sz="1100" dirty="0">
                <a:solidFill>
                  <a:srgbClr val="464646"/>
                </a:solidFill>
                <a:latin typeface="DM Sans Semi Bold" pitchFamily="34" charset="0"/>
                <a:ea typeface="DM Sans Semi Bold" pitchFamily="34" charset="-122"/>
                <a:cs typeface="DM Sans Semi Bold" pitchFamily="34" charset="-120"/>
              </a:rPr>
              <a:t>4. EDA</a:t>
            </a:r>
            <a:endParaRPr lang="en-US" sz="1100" dirty="0"/>
          </a:p>
        </p:txBody>
      </p:sp>
      <p:sp>
        <p:nvSpPr>
          <p:cNvPr id="17" name="Text 11"/>
          <p:cNvSpPr/>
          <p:nvPr/>
        </p:nvSpPr>
        <p:spPr>
          <a:xfrm>
            <a:off x="1120304" y="3411662"/>
            <a:ext cx="7501979" cy="150168"/>
          </a:xfrm>
          <a:prstGeom prst="rect">
            <a:avLst/>
          </a:prstGeom>
          <a:noFill/>
          <a:ln/>
        </p:spPr>
        <p:txBody>
          <a:bodyPr wrap="none" lIns="0" tIns="0" rIns="0" bIns="0" rtlCol="0" anchor="t"/>
          <a:lstStyle/>
          <a:p>
            <a:pPr marL="0" indent="0" algn="l">
              <a:lnSpc>
                <a:spcPts val="1150"/>
              </a:lnSpc>
              <a:buNone/>
            </a:pPr>
            <a:r>
              <a:rPr lang="en-US" sz="900" dirty="0">
                <a:solidFill>
                  <a:srgbClr val="464646"/>
                </a:solidFill>
                <a:latin typeface="Inter Medium" pitchFamily="34" charset="0"/>
                <a:ea typeface="Inter Medium" pitchFamily="34" charset="-122"/>
                <a:cs typeface="Inter Medium" pitchFamily="34" charset="-120"/>
              </a:rPr>
              <a:t>Univariate, bivariate, and multivariate statistical analysis</a:t>
            </a:r>
            <a:endParaRPr lang="en-US" sz="900" dirty="0"/>
          </a:p>
        </p:txBody>
      </p:sp>
      <p:pic>
        <p:nvPicPr>
          <p:cNvPr id="18" name="Image 4" descr="preencoded.png"/>
          <p:cNvPicPr>
            <a:picLocks noChangeAspect="1"/>
          </p:cNvPicPr>
          <p:nvPr/>
        </p:nvPicPr>
        <p:blipFill>
          <a:blip r:embed="rId7"/>
          <a:stretch>
            <a:fillRect/>
          </a:stretch>
        </p:blipFill>
        <p:spPr>
          <a:xfrm>
            <a:off x="521643" y="3721403"/>
            <a:ext cx="513606" cy="616297"/>
          </a:xfrm>
          <a:prstGeom prst="rect">
            <a:avLst/>
          </a:prstGeom>
        </p:spPr>
      </p:pic>
      <p:sp>
        <p:nvSpPr>
          <p:cNvPr id="19" name="Text 12"/>
          <p:cNvSpPr/>
          <p:nvPr/>
        </p:nvSpPr>
        <p:spPr>
          <a:xfrm>
            <a:off x="1120304" y="3824094"/>
            <a:ext cx="1284015" cy="160511"/>
          </a:xfrm>
          <a:prstGeom prst="rect">
            <a:avLst/>
          </a:prstGeom>
          <a:noFill/>
          <a:ln/>
        </p:spPr>
        <p:txBody>
          <a:bodyPr wrap="none" lIns="0" tIns="0" rIns="0" bIns="0" rtlCol="0" anchor="t"/>
          <a:lstStyle/>
          <a:p>
            <a:pPr marL="0" indent="0" algn="l">
              <a:lnSpc>
                <a:spcPts val="1250"/>
              </a:lnSpc>
              <a:buNone/>
            </a:pPr>
            <a:r>
              <a:rPr lang="en-US" sz="1100" dirty="0">
                <a:solidFill>
                  <a:srgbClr val="464646"/>
                </a:solidFill>
                <a:latin typeface="DM Sans Semi Bold" pitchFamily="34" charset="0"/>
                <a:ea typeface="DM Sans Semi Bold" pitchFamily="34" charset="-122"/>
                <a:cs typeface="DM Sans Semi Bold" pitchFamily="34" charset="-120"/>
              </a:rPr>
              <a:t>5. Interpretation</a:t>
            </a:r>
            <a:endParaRPr lang="en-US" sz="1100" dirty="0"/>
          </a:p>
        </p:txBody>
      </p:sp>
      <p:sp>
        <p:nvSpPr>
          <p:cNvPr id="20" name="Text 13"/>
          <p:cNvSpPr/>
          <p:nvPr/>
        </p:nvSpPr>
        <p:spPr>
          <a:xfrm>
            <a:off x="1120304" y="4027959"/>
            <a:ext cx="7501979" cy="150168"/>
          </a:xfrm>
          <a:prstGeom prst="rect">
            <a:avLst/>
          </a:prstGeom>
          <a:noFill/>
          <a:ln/>
        </p:spPr>
        <p:txBody>
          <a:bodyPr wrap="none" lIns="0" tIns="0" rIns="0" bIns="0" rtlCol="0" anchor="t"/>
          <a:lstStyle/>
          <a:p>
            <a:pPr marL="0" indent="0" algn="l">
              <a:lnSpc>
                <a:spcPts val="1150"/>
              </a:lnSpc>
              <a:buNone/>
            </a:pPr>
            <a:r>
              <a:rPr lang="en-US" sz="900" dirty="0">
                <a:solidFill>
                  <a:srgbClr val="464646"/>
                </a:solidFill>
                <a:latin typeface="Inter Medium" pitchFamily="34" charset="0"/>
                <a:ea typeface="Inter Medium" pitchFamily="34" charset="-122"/>
                <a:cs typeface="Inter Medium" pitchFamily="34" charset="-120"/>
              </a:rPr>
              <a:t>Translating patterns into business-relevant market insights</a:t>
            </a:r>
            <a:endParaRPr lang="en-US" sz="900" dirty="0"/>
          </a:p>
        </p:txBody>
      </p:sp>
      <p:sp>
        <p:nvSpPr>
          <p:cNvPr id="26" name="TextBox 25">
            <a:extLst>
              <a:ext uri="{FF2B5EF4-FFF2-40B4-BE49-F238E27FC236}">
                <a16:creationId xmlns:a16="http://schemas.microsoft.com/office/drawing/2014/main" id="{24B93FEB-9B3C-77DD-EAF5-3053F2E027DA}"/>
              </a:ext>
            </a:extLst>
          </p:cNvPr>
          <p:cNvSpPr txBox="1"/>
          <p:nvPr/>
        </p:nvSpPr>
        <p:spPr>
          <a:xfrm>
            <a:off x="2286000" y="2388266"/>
            <a:ext cx="4572000" cy="369332"/>
          </a:xfrm>
          <a:prstGeom prst="rect">
            <a:avLst/>
          </a:prstGeom>
          <a:noFill/>
        </p:spPr>
        <p:txBody>
          <a:bodyPr wrap="square">
            <a:spAutoFit/>
          </a:bodyPr>
          <a:lstStyle/>
          <a:p>
            <a:endParaRPr lang="en-IN" dirty="0"/>
          </a:p>
        </p:txBody>
      </p:sp>
      <p:pic>
        <p:nvPicPr>
          <p:cNvPr id="30" name="Picture 29">
            <a:extLst>
              <a:ext uri="{FF2B5EF4-FFF2-40B4-BE49-F238E27FC236}">
                <a16:creationId xmlns:a16="http://schemas.microsoft.com/office/drawing/2014/main" id="{2800F836-F9DD-4A56-0466-84EE725810D8}"/>
              </a:ext>
            </a:extLst>
          </p:cNvPr>
          <p:cNvPicPr>
            <a:picLocks noChangeAspect="1"/>
          </p:cNvPicPr>
          <p:nvPr/>
        </p:nvPicPr>
        <p:blipFill>
          <a:blip r:embed="rId8"/>
          <a:srcRect t="12383"/>
          <a:stretch>
            <a:fillRect/>
          </a:stretch>
        </p:blipFill>
        <p:spPr>
          <a:xfrm>
            <a:off x="5892147" y="508806"/>
            <a:ext cx="2566175" cy="39950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33029" y="252636"/>
            <a:ext cx="802407" cy="147340"/>
          </a:xfrm>
          <a:prstGeom prst="roundRect">
            <a:avLst>
              <a:gd name="adj" fmla="val 7104"/>
            </a:avLst>
          </a:prstGeom>
          <a:solidFill>
            <a:srgbClr val="D4F7EC"/>
          </a:solidFill>
          <a:ln/>
        </p:spPr>
        <p:txBody>
          <a:bodyPr/>
          <a:lstStyle/>
          <a:p>
            <a:endParaRPr lang="en-IN"/>
          </a:p>
        </p:txBody>
      </p:sp>
      <p:sp>
        <p:nvSpPr>
          <p:cNvPr id="3" name="Text 1"/>
          <p:cNvSpPr/>
          <p:nvPr/>
        </p:nvSpPr>
        <p:spPr>
          <a:xfrm>
            <a:off x="1185342" y="278755"/>
            <a:ext cx="697781" cy="95101"/>
          </a:xfrm>
          <a:prstGeom prst="rect">
            <a:avLst/>
          </a:prstGeom>
          <a:noFill/>
          <a:ln/>
        </p:spPr>
        <p:txBody>
          <a:bodyPr wrap="none" lIns="0" tIns="0" rIns="0" bIns="0" rtlCol="0" anchor="t"/>
          <a:lstStyle/>
          <a:p>
            <a:pPr marL="0" indent="0" algn="l">
              <a:lnSpc>
                <a:spcPts val="700"/>
              </a:lnSpc>
              <a:buNone/>
            </a:pPr>
            <a:r>
              <a:rPr lang="en-US" sz="500" dirty="0">
                <a:solidFill>
                  <a:srgbClr val="464646"/>
                </a:solidFill>
                <a:latin typeface="Inter Medium" pitchFamily="34" charset="0"/>
                <a:ea typeface="Inter Medium" pitchFamily="34" charset="-122"/>
                <a:cs typeface="Inter Medium" pitchFamily="34" charset="-120"/>
              </a:rPr>
              <a:t>DATASET OVERVIEW</a:t>
            </a:r>
            <a:endParaRPr lang="en-US" sz="500" dirty="0"/>
          </a:p>
        </p:txBody>
      </p:sp>
      <p:sp>
        <p:nvSpPr>
          <p:cNvPr id="4" name="Text 2"/>
          <p:cNvSpPr/>
          <p:nvPr/>
        </p:nvSpPr>
        <p:spPr>
          <a:xfrm>
            <a:off x="1133029" y="424458"/>
            <a:ext cx="3191173" cy="272504"/>
          </a:xfrm>
          <a:prstGeom prst="rect">
            <a:avLst/>
          </a:prstGeom>
          <a:noFill/>
          <a:ln/>
        </p:spPr>
        <p:txBody>
          <a:bodyPr wrap="none" lIns="0" tIns="0" rIns="0" bIns="0" rtlCol="0" anchor="t"/>
          <a:lstStyle/>
          <a:p>
            <a:pPr marL="0" indent="0" algn="l">
              <a:lnSpc>
                <a:spcPts val="2100"/>
              </a:lnSpc>
              <a:buNone/>
            </a:pPr>
            <a:r>
              <a:rPr lang="en-US" sz="1700" dirty="0">
                <a:solidFill>
                  <a:srgbClr val="030303"/>
                </a:solidFill>
                <a:latin typeface="DM Sans Semi Bold" pitchFamily="34" charset="0"/>
                <a:ea typeface="DM Sans Semi Bold" pitchFamily="34" charset="-122"/>
                <a:cs typeface="DM Sans Semi Bold" pitchFamily="34" charset="-120"/>
              </a:rPr>
              <a:t>Dataset Attributes</a:t>
            </a:r>
            <a:endParaRPr lang="en-US" sz="1700" dirty="0"/>
          </a:p>
        </p:txBody>
      </p:sp>
      <p:sp>
        <p:nvSpPr>
          <p:cNvPr id="5" name="Text 3"/>
          <p:cNvSpPr/>
          <p:nvPr/>
        </p:nvSpPr>
        <p:spPr>
          <a:xfrm>
            <a:off x="1133029" y="844079"/>
            <a:ext cx="3687068" cy="475059"/>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The final cleaned dataset contains </a:t>
            </a:r>
            <a:r>
              <a:rPr lang="en-US" sz="650" b="1" dirty="0">
                <a:solidFill>
                  <a:srgbClr val="464646"/>
                </a:solidFill>
                <a:latin typeface="Inter Medium" pitchFamily="34" charset="0"/>
                <a:ea typeface="Inter Medium" pitchFamily="34" charset="-122"/>
                <a:cs typeface="Inter Medium" pitchFamily="34" charset="-120"/>
              </a:rPr>
              <a:t>11 structured attributes</a:t>
            </a:r>
            <a:r>
              <a:rPr lang="en-US" sz="650" dirty="0">
                <a:solidFill>
                  <a:srgbClr val="464646"/>
                </a:solidFill>
                <a:latin typeface="Inter Medium" pitchFamily="34" charset="0"/>
                <a:ea typeface="Inter Medium" pitchFamily="34" charset="-122"/>
                <a:cs typeface="Inter Medium" pitchFamily="34" charset="-120"/>
              </a:rPr>
              <a:t> per smartphone listing, covering pricing, consumer sentiment, hardware specifications, and product metadata. This multidimensional structure enables rich cross-variable analysis across all three levels of EDA.</a:t>
            </a:r>
            <a:endParaRPr lang="en-US" sz="650" dirty="0"/>
          </a:p>
        </p:txBody>
      </p:sp>
      <p:sp>
        <p:nvSpPr>
          <p:cNvPr id="6" name="Shape 4"/>
          <p:cNvSpPr/>
          <p:nvPr/>
        </p:nvSpPr>
        <p:spPr>
          <a:xfrm>
            <a:off x="1133029" y="1388120"/>
            <a:ext cx="3687068" cy="3433762"/>
          </a:xfrm>
          <a:prstGeom prst="roundRect">
            <a:avLst>
              <a:gd name="adj" fmla="val 381"/>
            </a:avLst>
          </a:prstGeom>
          <a:noFill/>
          <a:ln w="4763">
            <a:solidFill>
              <a:srgbClr val="000000">
                <a:alpha val="8000"/>
              </a:srgbClr>
            </a:solidFill>
            <a:prstDash val="solid"/>
          </a:ln>
        </p:spPr>
        <p:txBody>
          <a:bodyPr/>
          <a:lstStyle/>
          <a:p>
            <a:endParaRPr lang="en-IN"/>
          </a:p>
        </p:txBody>
      </p:sp>
      <p:sp>
        <p:nvSpPr>
          <p:cNvPr id="7" name="Text 5"/>
          <p:cNvSpPr/>
          <p:nvPr/>
        </p:nvSpPr>
        <p:spPr>
          <a:xfrm>
            <a:off x="1225376" y="1434405"/>
            <a:ext cx="1048792" cy="118765"/>
          </a:xfrm>
          <a:prstGeom prst="rect">
            <a:avLst/>
          </a:prstGeom>
          <a:noFill/>
          <a:ln/>
        </p:spPr>
        <p:txBody>
          <a:bodyPr wrap="none" lIns="0" tIns="0" rIns="0" bIns="0" rtlCol="0" anchor="t"/>
          <a:lstStyle/>
          <a:p>
            <a:pPr marL="0" indent="0" algn="l">
              <a:lnSpc>
                <a:spcPts val="900"/>
              </a:lnSpc>
              <a:buNone/>
            </a:pPr>
            <a:r>
              <a:rPr lang="en-US" sz="650" b="1" dirty="0">
                <a:solidFill>
                  <a:srgbClr val="464646"/>
                </a:solidFill>
                <a:latin typeface="Inter Medium" pitchFamily="34" charset="0"/>
                <a:ea typeface="Inter Medium" pitchFamily="34" charset="-122"/>
                <a:cs typeface="Inter Medium" pitchFamily="34" charset="-120"/>
              </a:rPr>
              <a:t>Attribute</a:t>
            </a:r>
            <a:endParaRPr lang="en-US" sz="650" dirty="0"/>
          </a:p>
        </p:txBody>
      </p:sp>
      <p:sp>
        <p:nvSpPr>
          <p:cNvPr id="8" name="Text 6"/>
          <p:cNvSpPr/>
          <p:nvPr/>
        </p:nvSpPr>
        <p:spPr>
          <a:xfrm>
            <a:off x="2453357" y="1434405"/>
            <a:ext cx="1046411" cy="118765"/>
          </a:xfrm>
          <a:prstGeom prst="rect">
            <a:avLst/>
          </a:prstGeom>
          <a:noFill/>
          <a:ln/>
        </p:spPr>
        <p:txBody>
          <a:bodyPr wrap="none" lIns="0" tIns="0" rIns="0" bIns="0" rtlCol="0" anchor="t"/>
          <a:lstStyle/>
          <a:p>
            <a:pPr marL="0" indent="0" algn="l">
              <a:lnSpc>
                <a:spcPts val="900"/>
              </a:lnSpc>
              <a:buNone/>
            </a:pPr>
            <a:r>
              <a:rPr lang="en-US" sz="650" b="1" dirty="0">
                <a:solidFill>
                  <a:srgbClr val="464646"/>
                </a:solidFill>
                <a:latin typeface="Inter Medium" pitchFamily="34" charset="0"/>
                <a:ea typeface="Inter Medium" pitchFamily="34" charset="-122"/>
                <a:cs typeface="Inter Medium" pitchFamily="34" charset="-120"/>
              </a:rPr>
              <a:t>Type</a:t>
            </a:r>
            <a:endParaRPr lang="en-US" sz="650" dirty="0"/>
          </a:p>
        </p:txBody>
      </p:sp>
      <p:sp>
        <p:nvSpPr>
          <p:cNvPr id="9" name="Text 7"/>
          <p:cNvSpPr/>
          <p:nvPr/>
        </p:nvSpPr>
        <p:spPr>
          <a:xfrm>
            <a:off x="3678957" y="1434405"/>
            <a:ext cx="1048792" cy="118765"/>
          </a:xfrm>
          <a:prstGeom prst="rect">
            <a:avLst/>
          </a:prstGeom>
          <a:noFill/>
          <a:ln/>
        </p:spPr>
        <p:txBody>
          <a:bodyPr wrap="none" lIns="0" tIns="0" rIns="0" bIns="0" rtlCol="0" anchor="t"/>
          <a:lstStyle/>
          <a:p>
            <a:pPr marL="0" indent="0" algn="l">
              <a:lnSpc>
                <a:spcPts val="900"/>
              </a:lnSpc>
              <a:buNone/>
            </a:pPr>
            <a:r>
              <a:rPr lang="en-US" sz="650" b="1" dirty="0">
                <a:solidFill>
                  <a:srgbClr val="464646"/>
                </a:solidFill>
                <a:latin typeface="Inter Medium" pitchFamily="34" charset="0"/>
                <a:ea typeface="Inter Medium" pitchFamily="34" charset="-122"/>
                <a:cs typeface="Inter Medium" pitchFamily="34" charset="-120"/>
              </a:rPr>
              <a:t>Description</a:t>
            </a:r>
            <a:endParaRPr lang="en-US" sz="650" dirty="0"/>
          </a:p>
        </p:txBody>
      </p:sp>
      <p:sp>
        <p:nvSpPr>
          <p:cNvPr id="10" name="Text 8"/>
          <p:cNvSpPr/>
          <p:nvPr/>
        </p:nvSpPr>
        <p:spPr>
          <a:xfrm>
            <a:off x="1225376" y="1640979"/>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Product Name</a:t>
            </a:r>
            <a:endParaRPr lang="en-US" sz="650" dirty="0"/>
          </a:p>
        </p:txBody>
      </p:sp>
      <p:sp>
        <p:nvSpPr>
          <p:cNvPr id="11" name="Text 9"/>
          <p:cNvSpPr/>
          <p:nvPr/>
        </p:nvSpPr>
        <p:spPr>
          <a:xfrm>
            <a:off x="2453357" y="1640979"/>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String</a:t>
            </a:r>
            <a:endParaRPr lang="en-US" sz="650" dirty="0"/>
          </a:p>
        </p:txBody>
      </p:sp>
      <p:sp>
        <p:nvSpPr>
          <p:cNvPr id="12" name="Text 10"/>
          <p:cNvSpPr/>
          <p:nvPr/>
        </p:nvSpPr>
        <p:spPr>
          <a:xfrm>
            <a:off x="3678957" y="1640979"/>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Full listing title from Flipkart</a:t>
            </a:r>
            <a:endParaRPr lang="en-US" sz="650" dirty="0"/>
          </a:p>
        </p:txBody>
      </p:sp>
      <p:sp>
        <p:nvSpPr>
          <p:cNvPr id="13" name="Text 11"/>
          <p:cNvSpPr/>
          <p:nvPr/>
        </p:nvSpPr>
        <p:spPr>
          <a:xfrm>
            <a:off x="1225376" y="1966317"/>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Price (₹)</a:t>
            </a:r>
            <a:endParaRPr lang="en-US" sz="650" dirty="0"/>
          </a:p>
        </p:txBody>
      </p:sp>
      <p:sp>
        <p:nvSpPr>
          <p:cNvPr id="14" name="Text 12"/>
          <p:cNvSpPr/>
          <p:nvPr/>
        </p:nvSpPr>
        <p:spPr>
          <a:xfrm>
            <a:off x="2453357" y="1966317"/>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15" name="Text 13"/>
          <p:cNvSpPr/>
          <p:nvPr/>
        </p:nvSpPr>
        <p:spPr>
          <a:xfrm>
            <a:off x="3678957" y="1966317"/>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Current selling price</a:t>
            </a:r>
            <a:endParaRPr lang="en-US" sz="650" dirty="0"/>
          </a:p>
        </p:txBody>
      </p:sp>
      <p:sp>
        <p:nvSpPr>
          <p:cNvPr id="16" name="Text 14"/>
          <p:cNvSpPr/>
          <p:nvPr/>
        </p:nvSpPr>
        <p:spPr>
          <a:xfrm>
            <a:off x="1225376" y="2172891"/>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Original Price (₹)</a:t>
            </a:r>
            <a:endParaRPr lang="en-US" sz="650" dirty="0"/>
          </a:p>
        </p:txBody>
      </p:sp>
      <p:sp>
        <p:nvSpPr>
          <p:cNvPr id="17" name="Text 15"/>
          <p:cNvSpPr/>
          <p:nvPr/>
        </p:nvSpPr>
        <p:spPr>
          <a:xfrm>
            <a:off x="2453357" y="2172891"/>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18" name="Text 16"/>
          <p:cNvSpPr/>
          <p:nvPr/>
        </p:nvSpPr>
        <p:spPr>
          <a:xfrm>
            <a:off x="3678957" y="2172891"/>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MRP before discount</a:t>
            </a:r>
            <a:endParaRPr lang="en-US" sz="650" dirty="0"/>
          </a:p>
        </p:txBody>
      </p:sp>
      <p:sp>
        <p:nvSpPr>
          <p:cNvPr id="19" name="Text 17"/>
          <p:cNvSpPr/>
          <p:nvPr/>
        </p:nvSpPr>
        <p:spPr>
          <a:xfrm>
            <a:off x="1225376" y="2379464"/>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Discount (%)</a:t>
            </a:r>
            <a:endParaRPr lang="en-US" sz="650" dirty="0"/>
          </a:p>
        </p:txBody>
      </p:sp>
      <p:sp>
        <p:nvSpPr>
          <p:cNvPr id="20" name="Text 18"/>
          <p:cNvSpPr/>
          <p:nvPr/>
        </p:nvSpPr>
        <p:spPr>
          <a:xfrm>
            <a:off x="2453357" y="2379464"/>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21" name="Text 19"/>
          <p:cNvSpPr/>
          <p:nvPr/>
        </p:nvSpPr>
        <p:spPr>
          <a:xfrm>
            <a:off x="3678957" y="2379464"/>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Percentage markdown applied</a:t>
            </a:r>
            <a:endParaRPr lang="en-US" sz="650" dirty="0"/>
          </a:p>
        </p:txBody>
      </p:sp>
      <p:sp>
        <p:nvSpPr>
          <p:cNvPr id="22" name="Text 20"/>
          <p:cNvSpPr/>
          <p:nvPr/>
        </p:nvSpPr>
        <p:spPr>
          <a:xfrm>
            <a:off x="1225376" y="2704802"/>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Rating</a:t>
            </a:r>
            <a:endParaRPr lang="en-US" sz="650" dirty="0"/>
          </a:p>
        </p:txBody>
      </p:sp>
      <p:sp>
        <p:nvSpPr>
          <p:cNvPr id="23" name="Text 21"/>
          <p:cNvSpPr/>
          <p:nvPr/>
        </p:nvSpPr>
        <p:spPr>
          <a:xfrm>
            <a:off x="2453357" y="2704802"/>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Float</a:t>
            </a:r>
            <a:endParaRPr lang="en-US" sz="650" dirty="0"/>
          </a:p>
        </p:txBody>
      </p:sp>
      <p:sp>
        <p:nvSpPr>
          <p:cNvPr id="24" name="Text 22"/>
          <p:cNvSpPr/>
          <p:nvPr/>
        </p:nvSpPr>
        <p:spPr>
          <a:xfrm>
            <a:off x="3678957" y="2704802"/>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Average customer star rating (1–5)</a:t>
            </a:r>
            <a:endParaRPr lang="en-US" sz="650" dirty="0"/>
          </a:p>
        </p:txBody>
      </p:sp>
      <p:sp>
        <p:nvSpPr>
          <p:cNvPr id="25" name="Text 23"/>
          <p:cNvSpPr/>
          <p:nvPr/>
        </p:nvSpPr>
        <p:spPr>
          <a:xfrm>
            <a:off x="1225376" y="3030141"/>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Reviews</a:t>
            </a:r>
            <a:endParaRPr lang="en-US" sz="650" dirty="0"/>
          </a:p>
        </p:txBody>
      </p:sp>
      <p:sp>
        <p:nvSpPr>
          <p:cNvPr id="26" name="Text 24"/>
          <p:cNvSpPr/>
          <p:nvPr/>
        </p:nvSpPr>
        <p:spPr>
          <a:xfrm>
            <a:off x="2453357" y="3030141"/>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27" name="Text 25"/>
          <p:cNvSpPr/>
          <p:nvPr/>
        </p:nvSpPr>
        <p:spPr>
          <a:xfrm>
            <a:off x="3678957" y="3030141"/>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Total number of customer reviews</a:t>
            </a:r>
            <a:endParaRPr lang="en-US" sz="650" dirty="0"/>
          </a:p>
        </p:txBody>
      </p:sp>
      <p:sp>
        <p:nvSpPr>
          <p:cNvPr id="28" name="Text 26"/>
          <p:cNvSpPr/>
          <p:nvPr/>
        </p:nvSpPr>
        <p:spPr>
          <a:xfrm>
            <a:off x="1225376" y="3355479"/>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RAM (GB)</a:t>
            </a:r>
            <a:endParaRPr lang="en-US" sz="650" dirty="0"/>
          </a:p>
        </p:txBody>
      </p:sp>
      <p:sp>
        <p:nvSpPr>
          <p:cNvPr id="29" name="Text 27"/>
          <p:cNvSpPr/>
          <p:nvPr/>
        </p:nvSpPr>
        <p:spPr>
          <a:xfrm>
            <a:off x="2453357" y="3355479"/>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30" name="Text 28"/>
          <p:cNvSpPr/>
          <p:nvPr/>
        </p:nvSpPr>
        <p:spPr>
          <a:xfrm>
            <a:off x="3678957" y="3355479"/>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RAM extracted via Regex</a:t>
            </a:r>
            <a:endParaRPr lang="en-US" sz="650" dirty="0"/>
          </a:p>
        </p:txBody>
      </p:sp>
      <p:sp>
        <p:nvSpPr>
          <p:cNvPr id="31" name="Text 29"/>
          <p:cNvSpPr/>
          <p:nvPr/>
        </p:nvSpPr>
        <p:spPr>
          <a:xfrm>
            <a:off x="1225376" y="3562052"/>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Storage (GB)</a:t>
            </a:r>
            <a:endParaRPr lang="en-US" sz="650" dirty="0"/>
          </a:p>
        </p:txBody>
      </p:sp>
      <p:sp>
        <p:nvSpPr>
          <p:cNvPr id="32" name="Text 30"/>
          <p:cNvSpPr/>
          <p:nvPr/>
        </p:nvSpPr>
        <p:spPr>
          <a:xfrm>
            <a:off x="2453357" y="3562052"/>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Numeric</a:t>
            </a:r>
            <a:endParaRPr lang="en-US" sz="650" dirty="0"/>
          </a:p>
        </p:txBody>
      </p:sp>
      <p:sp>
        <p:nvSpPr>
          <p:cNvPr id="33" name="Text 31"/>
          <p:cNvSpPr/>
          <p:nvPr/>
        </p:nvSpPr>
        <p:spPr>
          <a:xfrm>
            <a:off x="3678957" y="3562052"/>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Internal storage extracted via Regex</a:t>
            </a:r>
            <a:endParaRPr lang="en-US" sz="650" dirty="0"/>
          </a:p>
        </p:txBody>
      </p:sp>
      <p:sp>
        <p:nvSpPr>
          <p:cNvPr id="34" name="Text 32"/>
          <p:cNvSpPr/>
          <p:nvPr/>
        </p:nvSpPr>
        <p:spPr>
          <a:xfrm>
            <a:off x="1225376" y="3887391"/>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Brand</a:t>
            </a:r>
            <a:endParaRPr lang="en-US" sz="650" dirty="0"/>
          </a:p>
        </p:txBody>
      </p:sp>
      <p:sp>
        <p:nvSpPr>
          <p:cNvPr id="35" name="Text 33"/>
          <p:cNvSpPr/>
          <p:nvPr/>
        </p:nvSpPr>
        <p:spPr>
          <a:xfrm>
            <a:off x="2453357" y="3887391"/>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String</a:t>
            </a:r>
            <a:endParaRPr lang="en-US" sz="650" dirty="0"/>
          </a:p>
        </p:txBody>
      </p:sp>
      <p:sp>
        <p:nvSpPr>
          <p:cNvPr id="36" name="Text 34"/>
          <p:cNvSpPr/>
          <p:nvPr/>
        </p:nvSpPr>
        <p:spPr>
          <a:xfrm>
            <a:off x="3678957" y="3887391"/>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Brand derived from product name</a:t>
            </a:r>
            <a:endParaRPr lang="en-US" sz="650" dirty="0"/>
          </a:p>
        </p:txBody>
      </p:sp>
      <p:sp>
        <p:nvSpPr>
          <p:cNvPr id="37" name="Text 35"/>
          <p:cNvSpPr/>
          <p:nvPr/>
        </p:nvSpPr>
        <p:spPr>
          <a:xfrm>
            <a:off x="1225376" y="4212729"/>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Features</a:t>
            </a:r>
            <a:endParaRPr lang="en-US" sz="650" dirty="0"/>
          </a:p>
        </p:txBody>
      </p:sp>
      <p:sp>
        <p:nvSpPr>
          <p:cNvPr id="38" name="Text 36"/>
          <p:cNvSpPr/>
          <p:nvPr/>
        </p:nvSpPr>
        <p:spPr>
          <a:xfrm>
            <a:off x="2453357" y="4212729"/>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String</a:t>
            </a:r>
            <a:endParaRPr lang="en-US" sz="650" dirty="0"/>
          </a:p>
        </p:txBody>
      </p:sp>
      <p:sp>
        <p:nvSpPr>
          <p:cNvPr id="39" name="Text 37"/>
          <p:cNvSpPr/>
          <p:nvPr/>
        </p:nvSpPr>
        <p:spPr>
          <a:xfrm>
            <a:off x="3678957" y="4212729"/>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Key product feature snippet</a:t>
            </a:r>
            <a:endParaRPr lang="en-US" sz="650" dirty="0"/>
          </a:p>
        </p:txBody>
      </p:sp>
      <p:sp>
        <p:nvSpPr>
          <p:cNvPr id="40" name="Text 38"/>
          <p:cNvSpPr/>
          <p:nvPr/>
        </p:nvSpPr>
        <p:spPr>
          <a:xfrm>
            <a:off x="1225376" y="4538067"/>
            <a:ext cx="1048792"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Page Number</a:t>
            </a:r>
            <a:endParaRPr lang="en-US" sz="650" dirty="0"/>
          </a:p>
        </p:txBody>
      </p:sp>
      <p:sp>
        <p:nvSpPr>
          <p:cNvPr id="41" name="Text 39"/>
          <p:cNvSpPr/>
          <p:nvPr/>
        </p:nvSpPr>
        <p:spPr>
          <a:xfrm>
            <a:off x="2453357" y="4538067"/>
            <a:ext cx="1046411" cy="118765"/>
          </a:xfrm>
          <a:prstGeom prst="rect">
            <a:avLst/>
          </a:prstGeom>
          <a:noFill/>
          <a:ln/>
        </p:spPr>
        <p:txBody>
          <a:bodyPr wrap="non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Integer</a:t>
            </a:r>
            <a:endParaRPr lang="en-US" sz="650" dirty="0"/>
          </a:p>
        </p:txBody>
      </p:sp>
      <p:sp>
        <p:nvSpPr>
          <p:cNvPr id="42" name="Text 40"/>
          <p:cNvSpPr/>
          <p:nvPr/>
        </p:nvSpPr>
        <p:spPr>
          <a:xfrm>
            <a:off x="3678957" y="4538067"/>
            <a:ext cx="1048792" cy="237530"/>
          </a:xfrm>
          <a:prstGeom prst="rect">
            <a:avLst/>
          </a:prstGeom>
          <a:noFill/>
          <a:ln/>
        </p:spPr>
        <p:txBody>
          <a:bodyPr wrap="square" lIns="0" tIns="0" rIns="0" bIns="0" rtlCol="0" anchor="t"/>
          <a:lstStyle/>
          <a:p>
            <a:pPr marL="0" indent="0" algn="l">
              <a:lnSpc>
                <a:spcPts val="900"/>
              </a:lnSpc>
              <a:buNone/>
            </a:pPr>
            <a:r>
              <a:rPr lang="en-US" sz="650" dirty="0">
                <a:solidFill>
                  <a:srgbClr val="464646"/>
                </a:solidFill>
                <a:latin typeface="Inter Medium" pitchFamily="34" charset="0"/>
                <a:ea typeface="Inter Medium" pitchFamily="34" charset="-122"/>
                <a:cs typeface="Inter Medium" pitchFamily="34" charset="-120"/>
              </a:rPr>
              <a:t>Source listing page (for scraping audit)</a:t>
            </a:r>
            <a:endParaRPr lang="en-US" sz="650" dirty="0"/>
          </a:p>
        </p:txBody>
      </p:sp>
      <p:pic>
        <p:nvPicPr>
          <p:cNvPr id="43" name="Image 0" descr="preencoded.png"/>
          <p:cNvPicPr>
            <a:picLocks noChangeAspect="1"/>
          </p:cNvPicPr>
          <p:nvPr/>
        </p:nvPicPr>
        <p:blipFill>
          <a:blip r:embed="rId3"/>
          <a:stretch>
            <a:fillRect/>
          </a:stretch>
        </p:blipFill>
        <p:spPr>
          <a:xfrm>
            <a:off x="5037534" y="857920"/>
            <a:ext cx="2978051" cy="2978051"/>
          </a:xfrm>
          <a:prstGeom prst="rect">
            <a:avLst/>
          </a:prstGeom>
        </p:spPr>
      </p:pic>
      <p:sp>
        <p:nvSpPr>
          <p:cNvPr id="44" name="Shape 41"/>
          <p:cNvSpPr/>
          <p:nvPr/>
        </p:nvSpPr>
        <p:spPr>
          <a:xfrm>
            <a:off x="5037534" y="3904952"/>
            <a:ext cx="2973437" cy="870645"/>
          </a:xfrm>
          <a:prstGeom prst="roundRect">
            <a:avLst>
              <a:gd name="adj" fmla="val 1992"/>
            </a:avLst>
          </a:prstGeom>
          <a:solidFill>
            <a:srgbClr val="BEF3E2"/>
          </a:solidFill>
          <a:ln/>
        </p:spPr>
        <p:txBody>
          <a:bodyPr/>
          <a:lstStyle/>
          <a:p>
            <a:endParaRPr lang="en-IN"/>
          </a:p>
        </p:txBody>
      </p:sp>
      <p:pic>
        <p:nvPicPr>
          <p:cNvPr id="45" name="Image 1" descr="preencoded.png"/>
          <p:cNvPicPr>
            <a:picLocks noChangeAspect="1"/>
          </p:cNvPicPr>
          <p:nvPr/>
        </p:nvPicPr>
        <p:blipFill>
          <a:blip r:embed="rId4"/>
          <a:stretch>
            <a:fillRect/>
          </a:stretch>
        </p:blipFill>
        <p:spPr>
          <a:xfrm>
            <a:off x="5124748" y="4028108"/>
            <a:ext cx="109017" cy="87213"/>
          </a:xfrm>
          <a:prstGeom prst="rect">
            <a:avLst/>
          </a:prstGeom>
        </p:spPr>
      </p:pic>
      <p:sp>
        <p:nvSpPr>
          <p:cNvPr id="46" name="Text 42"/>
          <p:cNvSpPr/>
          <p:nvPr/>
        </p:nvSpPr>
        <p:spPr>
          <a:xfrm>
            <a:off x="5320978" y="3988073"/>
            <a:ext cx="2597646" cy="668759"/>
          </a:xfrm>
          <a:prstGeom prst="rect">
            <a:avLst/>
          </a:prstGeom>
          <a:noFill/>
          <a:ln/>
        </p:spPr>
        <p:txBody>
          <a:bodyPr wrap="square" lIns="0" tIns="0" rIns="0" bIns="0" rtlCol="0" anchor="t"/>
          <a:lstStyle/>
          <a:p>
            <a:pPr marL="0" indent="0">
              <a:lnSpc>
                <a:spcPts val="900"/>
              </a:lnSpc>
              <a:buNone/>
            </a:pPr>
            <a:r>
              <a:rPr lang="en-US" sz="800" b="1" dirty="0">
                <a:solidFill>
                  <a:srgbClr val="000000"/>
                </a:solidFill>
                <a:latin typeface="Inter Medium" pitchFamily="34" charset="0"/>
                <a:ea typeface="Inter Medium" pitchFamily="34" charset="-122"/>
                <a:cs typeface="Inter Medium" pitchFamily="34" charset="-120"/>
              </a:rPr>
              <a:t>Note:</a:t>
            </a:r>
            <a:r>
              <a:rPr lang="en-US" sz="800" dirty="0">
                <a:solidFill>
                  <a:srgbClr val="000000"/>
                </a:solidFill>
                <a:latin typeface="Inter Medium" pitchFamily="34" charset="0"/>
                <a:ea typeface="Inter Medium" pitchFamily="34" charset="-122"/>
                <a:cs typeface="Inter Medium" pitchFamily="34" charset="-120"/>
              </a:rPr>
              <a:t> </a:t>
            </a:r>
          </a:p>
          <a:p>
            <a:pPr marL="0" indent="0">
              <a:buNone/>
            </a:pPr>
            <a:r>
              <a:rPr lang="en-US" sz="800" dirty="0">
                <a:solidFill>
                  <a:srgbClr val="000000"/>
                </a:solidFill>
                <a:latin typeface="Inter Medium" pitchFamily="34" charset="0"/>
                <a:ea typeface="Inter Medium" pitchFamily="34" charset="-122"/>
                <a:cs typeface="Inter Medium" pitchFamily="34" charset="-120"/>
              </a:rPr>
              <a:t>     RAM, Storage, and Brand were not available as separate fields — they were systematically extracted from the raw Product Name string using Python Regex patterns post-scraping.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88379" y="338882"/>
            <a:ext cx="936352" cy="237827"/>
          </a:xfrm>
          <a:prstGeom prst="roundRect">
            <a:avLst>
              <a:gd name="adj" fmla="val 6161"/>
            </a:avLst>
          </a:prstGeom>
          <a:noFill/>
          <a:ln w="4763">
            <a:solidFill>
              <a:srgbClr val="1C9770"/>
            </a:solidFill>
            <a:prstDash val="solid"/>
          </a:ln>
        </p:spPr>
        <p:txBody>
          <a:bodyPr/>
          <a:lstStyle/>
          <a:p>
            <a:endParaRPr lang="en-IN"/>
          </a:p>
        </p:txBody>
      </p:sp>
      <p:sp>
        <p:nvSpPr>
          <p:cNvPr id="3" name="Text 1"/>
          <p:cNvSpPr/>
          <p:nvPr/>
        </p:nvSpPr>
        <p:spPr>
          <a:xfrm>
            <a:off x="566365" y="380256"/>
            <a:ext cx="780380" cy="155079"/>
          </a:xfrm>
          <a:prstGeom prst="rect">
            <a:avLst/>
          </a:prstGeom>
          <a:noFill/>
          <a:ln/>
        </p:spPr>
        <p:txBody>
          <a:bodyPr wrap="none" lIns="0" tIns="0" rIns="0" bIns="0" rtlCol="0" anchor="t"/>
          <a:lstStyle/>
          <a:p>
            <a:pPr marL="0" indent="0" algn="l">
              <a:lnSpc>
                <a:spcPts val="1200"/>
              </a:lnSpc>
              <a:buNone/>
            </a:pPr>
            <a:r>
              <a:rPr lang="en-US" sz="750" dirty="0">
                <a:solidFill>
                  <a:srgbClr val="1C9770"/>
                </a:solidFill>
                <a:latin typeface="Inter Medium" pitchFamily="34" charset="0"/>
                <a:ea typeface="Inter Medium" pitchFamily="34" charset="-122"/>
                <a:cs typeface="Inter Medium" pitchFamily="34" charset="-120"/>
              </a:rPr>
              <a:t>DATA CLEANING</a:t>
            </a:r>
            <a:endParaRPr lang="en-US" sz="750" dirty="0"/>
          </a:p>
        </p:txBody>
      </p:sp>
      <p:sp>
        <p:nvSpPr>
          <p:cNvPr id="4" name="Text 2"/>
          <p:cNvSpPr/>
          <p:nvPr/>
        </p:nvSpPr>
        <p:spPr>
          <a:xfrm>
            <a:off x="488379" y="624780"/>
            <a:ext cx="6537722" cy="381521"/>
          </a:xfrm>
          <a:prstGeom prst="rect">
            <a:avLst/>
          </a:prstGeom>
          <a:noFill/>
          <a:ln/>
        </p:spPr>
        <p:txBody>
          <a:bodyPr wrap="none" lIns="0" tIns="0" rIns="0" bIns="0" rtlCol="0" anchor="t"/>
          <a:lstStyle/>
          <a:p>
            <a:pPr marL="0" indent="0" algn="l">
              <a:lnSpc>
                <a:spcPts val="3000"/>
              </a:lnSpc>
              <a:buNone/>
            </a:pPr>
            <a:r>
              <a:rPr lang="en-US" sz="2400" dirty="0">
                <a:solidFill>
                  <a:srgbClr val="030303"/>
                </a:solidFill>
                <a:latin typeface="DM Sans Semi Bold" pitchFamily="34" charset="0"/>
                <a:ea typeface="DM Sans Semi Bold" pitchFamily="34" charset="-122"/>
                <a:cs typeface="DM Sans Semi Bold" pitchFamily="34" charset="-120"/>
              </a:rPr>
              <a:t>From Raw Scrape to Analysis-Ready Dataset</a:t>
            </a:r>
            <a:endParaRPr lang="en-US" sz="2400" dirty="0"/>
          </a:p>
        </p:txBody>
      </p:sp>
      <p:sp>
        <p:nvSpPr>
          <p:cNvPr id="5" name="Text 3"/>
          <p:cNvSpPr/>
          <p:nvPr/>
        </p:nvSpPr>
        <p:spPr>
          <a:xfrm>
            <a:off x="488379" y="1186532"/>
            <a:ext cx="8167241" cy="387697"/>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Raw HTML data extracted from Flipkart contains significant noise — currency symbols, inconsistent string formats, null placeholders, and entangled multi-attribute fields. A rigorous seven-step cleaning protocol transformed this into a structured, analysis-ready dataset.</a:t>
            </a:r>
            <a:endParaRPr lang="en-US" sz="950" dirty="0"/>
          </a:p>
        </p:txBody>
      </p:sp>
      <p:sp>
        <p:nvSpPr>
          <p:cNvPr id="6" name="Shape 4"/>
          <p:cNvSpPr/>
          <p:nvPr/>
        </p:nvSpPr>
        <p:spPr>
          <a:xfrm>
            <a:off x="488379" y="1709440"/>
            <a:ext cx="2642295" cy="1584424"/>
          </a:xfrm>
          <a:prstGeom prst="roundRect">
            <a:avLst>
              <a:gd name="adj" fmla="val 1156"/>
            </a:avLst>
          </a:prstGeom>
          <a:solidFill>
            <a:srgbClr val="F2EEEE"/>
          </a:solidFill>
          <a:ln/>
        </p:spPr>
        <p:txBody>
          <a:bodyPr/>
          <a:lstStyle/>
          <a:p>
            <a:endParaRPr lang="en-IN"/>
          </a:p>
        </p:txBody>
      </p:sp>
      <p:sp>
        <p:nvSpPr>
          <p:cNvPr id="7" name="Shape 5"/>
          <p:cNvSpPr/>
          <p:nvPr/>
        </p:nvSpPr>
        <p:spPr>
          <a:xfrm>
            <a:off x="610419" y="1831479"/>
            <a:ext cx="366266" cy="366266"/>
          </a:xfrm>
          <a:prstGeom prst="roundRect">
            <a:avLst>
              <a:gd name="adj" fmla="val 15601854"/>
            </a:avLst>
          </a:prstGeom>
          <a:solidFill>
            <a:srgbClr val="1C9770"/>
          </a:solidFill>
          <a:ln/>
        </p:spPr>
        <p:txBody>
          <a:bodyPr/>
          <a:lstStyle/>
          <a:p>
            <a:endParaRPr lang="en-IN"/>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101" y="1932161"/>
            <a:ext cx="164827" cy="164827"/>
          </a:xfrm>
          <a:prstGeom prst="rect">
            <a:avLst/>
          </a:prstGeom>
        </p:spPr>
      </p:pic>
      <p:sp>
        <p:nvSpPr>
          <p:cNvPr id="9" name="Text 6"/>
          <p:cNvSpPr/>
          <p:nvPr/>
        </p:nvSpPr>
        <p:spPr>
          <a:xfrm>
            <a:off x="610419" y="2317924"/>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464646"/>
                </a:solidFill>
                <a:latin typeface="DM Sans Semi Bold" pitchFamily="34" charset="0"/>
                <a:ea typeface="DM Sans Semi Bold" pitchFamily="34" charset="-122"/>
                <a:cs typeface="DM Sans Semi Bold" pitchFamily="34" charset="-120"/>
              </a:rPr>
              <a:t>Symbol Stripping</a:t>
            </a:r>
            <a:endParaRPr lang="en-US" sz="1200" dirty="0"/>
          </a:p>
        </p:txBody>
      </p:sp>
      <p:sp>
        <p:nvSpPr>
          <p:cNvPr id="10" name="Text 7"/>
          <p:cNvSpPr/>
          <p:nvPr/>
        </p:nvSpPr>
        <p:spPr>
          <a:xfrm>
            <a:off x="610419" y="2580754"/>
            <a:ext cx="2398216" cy="591071"/>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Removed ₹ signs, commas, and % characters using </a:t>
            </a:r>
            <a:r>
              <a:rPr lang="en-US" sz="950" dirty="0">
                <a:solidFill>
                  <a:srgbClr val="464646"/>
                </a:solidFill>
                <a:highlight>
                  <a:srgbClr val="F2F2F2"/>
                </a:highlight>
                <a:latin typeface="Consolas" pitchFamily="34" charset="0"/>
                <a:ea typeface="Consolas" pitchFamily="34" charset="-122"/>
                <a:cs typeface="Consolas" pitchFamily="34" charset="-120"/>
              </a:rPr>
              <a:t>str.replace()</a:t>
            </a:r>
            <a:r>
              <a:rPr lang="en-US" sz="950" dirty="0">
                <a:solidFill>
                  <a:srgbClr val="464646"/>
                </a:solidFill>
                <a:latin typeface="Inter Medium" pitchFamily="34" charset="0"/>
                <a:ea typeface="Inter Medium" pitchFamily="34" charset="-122"/>
                <a:cs typeface="Inter Medium" pitchFamily="34" charset="-120"/>
              </a:rPr>
              <a:t> and Regex to enable numeric conversion.</a:t>
            </a:r>
            <a:endParaRPr lang="en-US" sz="950" dirty="0"/>
          </a:p>
        </p:txBody>
      </p:sp>
      <p:sp>
        <p:nvSpPr>
          <p:cNvPr id="11" name="Shape 8"/>
          <p:cNvSpPr/>
          <p:nvPr/>
        </p:nvSpPr>
        <p:spPr>
          <a:xfrm>
            <a:off x="3250853" y="1709440"/>
            <a:ext cx="2642295" cy="1584424"/>
          </a:xfrm>
          <a:prstGeom prst="roundRect">
            <a:avLst>
              <a:gd name="adj" fmla="val 1156"/>
            </a:avLst>
          </a:prstGeom>
          <a:solidFill>
            <a:srgbClr val="F2EEEE"/>
          </a:solidFill>
          <a:ln/>
        </p:spPr>
        <p:txBody>
          <a:bodyPr/>
          <a:lstStyle/>
          <a:p>
            <a:endParaRPr lang="en-IN"/>
          </a:p>
        </p:txBody>
      </p:sp>
      <p:sp>
        <p:nvSpPr>
          <p:cNvPr id="12" name="Shape 9"/>
          <p:cNvSpPr/>
          <p:nvPr/>
        </p:nvSpPr>
        <p:spPr>
          <a:xfrm>
            <a:off x="3372892" y="1831479"/>
            <a:ext cx="366266" cy="366266"/>
          </a:xfrm>
          <a:prstGeom prst="roundRect">
            <a:avLst>
              <a:gd name="adj" fmla="val 15601854"/>
            </a:avLst>
          </a:prstGeom>
          <a:solidFill>
            <a:srgbClr val="1C9770"/>
          </a:solidFill>
          <a:ln/>
        </p:spPr>
        <p:txBody>
          <a:bodyPr/>
          <a:lstStyle/>
          <a:p>
            <a:endParaRPr lang="en-IN"/>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3574" y="1932161"/>
            <a:ext cx="164827" cy="164827"/>
          </a:xfrm>
          <a:prstGeom prst="rect">
            <a:avLst/>
          </a:prstGeom>
        </p:spPr>
      </p:pic>
      <p:sp>
        <p:nvSpPr>
          <p:cNvPr id="14" name="Text 10"/>
          <p:cNvSpPr/>
          <p:nvPr/>
        </p:nvSpPr>
        <p:spPr>
          <a:xfrm>
            <a:off x="3372892" y="2317924"/>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464646"/>
                </a:solidFill>
                <a:latin typeface="DM Sans Semi Bold" pitchFamily="34" charset="0"/>
                <a:ea typeface="DM Sans Semi Bold" pitchFamily="34" charset="-122"/>
                <a:cs typeface="DM Sans Semi Bold" pitchFamily="34" charset="-120"/>
              </a:rPr>
              <a:t>Null Treatment</a:t>
            </a:r>
            <a:endParaRPr lang="en-US" sz="1200" dirty="0"/>
          </a:p>
        </p:txBody>
      </p:sp>
      <p:sp>
        <p:nvSpPr>
          <p:cNvPr id="15" name="Text 11"/>
          <p:cNvSpPr/>
          <p:nvPr/>
        </p:nvSpPr>
        <p:spPr>
          <a:xfrm>
            <a:off x="3372892" y="2580754"/>
            <a:ext cx="2398216" cy="581546"/>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Identified missing values per column; imputed or dropped based on field criticality and missingness threshold.</a:t>
            </a:r>
            <a:endParaRPr lang="en-US" sz="950" dirty="0"/>
          </a:p>
        </p:txBody>
      </p:sp>
      <p:sp>
        <p:nvSpPr>
          <p:cNvPr id="16" name="Shape 12"/>
          <p:cNvSpPr/>
          <p:nvPr/>
        </p:nvSpPr>
        <p:spPr>
          <a:xfrm>
            <a:off x="6013326" y="1709440"/>
            <a:ext cx="2642295" cy="1584424"/>
          </a:xfrm>
          <a:prstGeom prst="roundRect">
            <a:avLst>
              <a:gd name="adj" fmla="val 1156"/>
            </a:avLst>
          </a:prstGeom>
          <a:solidFill>
            <a:srgbClr val="F2EEEE"/>
          </a:solidFill>
          <a:ln/>
        </p:spPr>
        <p:txBody>
          <a:bodyPr/>
          <a:lstStyle/>
          <a:p>
            <a:endParaRPr lang="en-IN"/>
          </a:p>
        </p:txBody>
      </p:sp>
      <p:sp>
        <p:nvSpPr>
          <p:cNvPr id="17" name="Shape 13"/>
          <p:cNvSpPr/>
          <p:nvPr/>
        </p:nvSpPr>
        <p:spPr>
          <a:xfrm>
            <a:off x="6135365" y="1831479"/>
            <a:ext cx="366266" cy="366266"/>
          </a:xfrm>
          <a:prstGeom prst="roundRect">
            <a:avLst>
              <a:gd name="adj" fmla="val 15601854"/>
            </a:avLst>
          </a:prstGeom>
          <a:solidFill>
            <a:srgbClr val="1C9770"/>
          </a:solidFill>
          <a:ln/>
        </p:spPr>
        <p:txBody>
          <a:bodyPr/>
          <a:lstStyle/>
          <a:p>
            <a:endParaRPr lang="en-IN"/>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6047" y="1932161"/>
            <a:ext cx="164827" cy="164827"/>
          </a:xfrm>
          <a:prstGeom prst="rect">
            <a:avLst/>
          </a:prstGeom>
        </p:spPr>
      </p:pic>
      <p:sp>
        <p:nvSpPr>
          <p:cNvPr id="19" name="Text 14"/>
          <p:cNvSpPr/>
          <p:nvPr/>
        </p:nvSpPr>
        <p:spPr>
          <a:xfrm>
            <a:off x="6135365" y="2317924"/>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464646"/>
                </a:solidFill>
                <a:latin typeface="DM Sans Semi Bold" pitchFamily="34" charset="0"/>
                <a:ea typeface="DM Sans Semi Bold" pitchFamily="34" charset="-122"/>
                <a:cs typeface="DM Sans Semi Bold" pitchFamily="34" charset="-120"/>
              </a:rPr>
              <a:t>Deduplication</a:t>
            </a:r>
            <a:endParaRPr lang="en-US" sz="1200" dirty="0"/>
          </a:p>
        </p:txBody>
      </p:sp>
      <p:sp>
        <p:nvSpPr>
          <p:cNvPr id="20" name="Text 15"/>
          <p:cNvSpPr/>
          <p:nvPr/>
        </p:nvSpPr>
        <p:spPr>
          <a:xfrm>
            <a:off x="6135365" y="2580754"/>
            <a:ext cx="2398216" cy="591071"/>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Applied </a:t>
            </a:r>
            <a:r>
              <a:rPr lang="en-US" sz="950" dirty="0">
                <a:solidFill>
                  <a:srgbClr val="464646"/>
                </a:solidFill>
                <a:highlight>
                  <a:srgbClr val="F2F2F2"/>
                </a:highlight>
                <a:latin typeface="Consolas" pitchFamily="34" charset="0"/>
                <a:ea typeface="Consolas" pitchFamily="34" charset="-122"/>
                <a:cs typeface="Consolas" pitchFamily="34" charset="-120"/>
              </a:rPr>
              <a:t>drop_duplicates()</a:t>
            </a:r>
            <a:r>
              <a:rPr lang="en-US" sz="950" dirty="0">
                <a:solidFill>
                  <a:srgbClr val="464646"/>
                </a:solidFill>
                <a:latin typeface="Inter Medium" pitchFamily="34" charset="0"/>
                <a:ea typeface="Inter Medium" pitchFamily="34" charset="-122"/>
                <a:cs typeface="Inter Medium" pitchFamily="34" charset="-120"/>
              </a:rPr>
              <a:t> to remove redundant listings caused by paginated scraping overlap.</a:t>
            </a:r>
            <a:endParaRPr lang="en-US" sz="950" dirty="0"/>
          </a:p>
        </p:txBody>
      </p:sp>
      <p:sp>
        <p:nvSpPr>
          <p:cNvPr id="21" name="Shape 16"/>
          <p:cNvSpPr/>
          <p:nvPr/>
        </p:nvSpPr>
        <p:spPr>
          <a:xfrm>
            <a:off x="488379" y="3414043"/>
            <a:ext cx="4023494" cy="1390576"/>
          </a:xfrm>
          <a:prstGeom prst="roundRect">
            <a:avLst>
              <a:gd name="adj" fmla="val 1317"/>
            </a:avLst>
          </a:prstGeom>
          <a:solidFill>
            <a:srgbClr val="F2EEEE"/>
          </a:solidFill>
          <a:ln/>
        </p:spPr>
        <p:txBody>
          <a:bodyPr/>
          <a:lstStyle/>
          <a:p>
            <a:endParaRPr lang="en-IN"/>
          </a:p>
        </p:txBody>
      </p:sp>
      <p:sp>
        <p:nvSpPr>
          <p:cNvPr id="22" name="Shape 17"/>
          <p:cNvSpPr/>
          <p:nvPr/>
        </p:nvSpPr>
        <p:spPr>
          <a:xfrm>
            <a:off x="610419" y="3536082"/>
            <a:ext cx="366266" cy="366266"/>
          </a:xfrm>
          <a:prstGeom prst="roundRect">
            <a:avLst>
              <a:gd name="adj" fmla="val 15601854"/>
            </a:avLst>
          </a:prstGeom>
          <a:solidFill>
            <a:srgbClr val="1C9770"/>
          </a:solidFill>
          <a:ln/>
        </p:spPr>
        <p:txBody>
          <a:bodyPr/>
          <a:lstStyle/>
          <a:p>
            <a:endParaRPr lang="en-IN"/>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101" y="3636764"/>
            <a:ext cx="164827" cy="164827"/>
          </a:xfrm>
          <a:prstGeom prst="rect">
            <a:avLst/>
          </a:prstGeom>
        </p:spPr>
      </p:pic>
      <p:sp>
        <p:nvSpPr>
          <p:cNvPr id="24" name="Text 18"/>
          <p:cNvSpPr/>
          <p:nvPr/>
        </p:nvSpPr>
        <p:spPr>
          <a:xfrm>
            <a:off x="610419" y="4022527"/>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464646"/>
                </a:solidFill>
                <a:latin typeface="DM Sans Semi Bold" pitchFamily="34" charset="0"/>
                <a:ea typeface="DM Sans Semi Bold" pitchFamily="34" charset="-122"/>
                <a:cs typeface="DM Sans Semi Bold" pitchFamily="34" charset="-120"/>
              </a:rPr>
              <a:t>Type Conversion</a:t>
            </a:r>
            <a:endParaRPr lang="en-US" sz="1200" dirty="0"/>
          </a:p>
        </p:txBody>
      </p:sp>
      <p:sp>
        <p:nvSpPr>
          <p:cNvPr id="25" name="Text 19"/>
          <p:cNvSpPr/>
          <p:nvPr/>
        </p:nvSpPr>
        <p:spPr>
          <a:xfrm>
            <a:off x="610419" y="4285357"/>
            <a:ext cx="3779416" cy="387697"/>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Converted price, rating, reviews, RAM, and storage from object strings to appropriate numeric datatypes.</a:t>
            </a:r>
            <a:endParaRPr lang="en-US" sz="950" dirty="0"/>
          </a:p>
        </p:txBody>
      </p:sp>
      <p:sp>
        <p:nvSpPr>
          <p:cNvPr id="26" name="Shape 20"/>
          <p:cNvSpPr/>
          <p:nvPr/>
        </p:nvSpPr>
        <p:spPr>
          <a:xfrm>
            <a:off x="4632052" y="3414043"/>
            <a:ext cx="4023568" cy="1390576"/>
          </a:xfrm>
          <a:prstGeom prst="roundRect">
            <a:avLst>
              <a:gd name="adj" fmla="val 1317"/>
            </a:avLst>
          </a:prstGeom>
          <a:solidFill>
            <a:srgbClr val="F2EEEE"/>
          </a:solidFill>
          <a:ln/>
        </p:spPr>
        <p:txBody>
          <a:bodyPr/>
          <a:lstStyle/>
          <a:p>
            <a:endParaRPr lang="en-IN"/>
          </a:p>
        </p:txBody>
      </p:sp>
      <p:sp>
        <p:nvSpPr>
          <p:cNvPr id="27" name="Shape 21"/>
          <p:cNvSpPr/>
          <p:nvPr/>
        </p:nvSpPr>
        <p:spPr>
          <a:xfrm>
            <a:off x="4754091" y="3536082"/>
            <a:ext cx="366266" cy="366266"/>
          </a:xfrm>
          <a:prstGeom prst="roundRect">
            <a:avLst>
              <a:gd name="adj" fmla="val 15601854"/>
            </a:avLst>
          </a:prstGeom>
          <a:solidFill>
            <a:srgbClr val="1C9770"/>
          </a:solidFill>
          <a:ln/>
        </p:spPr>
        <p:txBody>
          <a:bodyPr/>
          <a:lstStyle/>
          <a:p>
            <a:endParaRPr lang="en-IN"/>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54773" y="3636764"/>
            <a:ext cx="164827" cy="164827"/>
          </a:xfrm>
          <a:prstGeom prst="rect">
            <a:avLst/>
          </a:prstGeom>
        </p:spPr>
      </p:pic>
      <p:sp>
        <p:nvSpPr>
          <p:cNvPr id="29" name="Text 22"/>
          <p:cNvSpPr/>
          <p:nvPr/>
        </p:nvSpPr>
        <p:spPr>
          <a:xfrm>
            <a:off x="4754091" y="4022527"/>
            <a:ext cx="1526307" cy="190723"/>
          </a:xfrm>
          <a:prstGeom prst="rect">
            <a:avLst/>
          </a:prstGeom>
          <a:noFill/>
          <a:ln/>
        </p:spPr>
        <p:txBody>
          <a:bodyPr wrap="none" lIns="0" tIns="0" rIns="0" bIns="0" rtlCol="0" anchor="t"/>
          <a:lstStyle/>
          <a:p>
            <a:pPr marL="0" indent="0" algn="l">
              <a:lnSpc>
                <a:spcPts val="1500"/>
              </a:lnSpc>
              <a:buNone/>
            </a:pPr>
            <a:r>
              <a:rPr lang="en-US" sz="1200" dirty="0">
                <a:solidFill>
                  <a:srgbClr val="464646"/>
                </a:solidFill>
                <a:latin typeface="DM Sans Semi Bold" pitchFamily="34" charset="0"/>
                <a:ea typeface="DM Sans Semi Bold" pitchFamily="34" charset="-122"/>
                <a:cs typeface="DM Sans Semi Bold" pitchFamily="34" charset="-120"/>
              </a:rPr>
              <a:t>Regex Extraction</a:t>
            </a:r>
            <a:endParaRPr lang="en-US" sz="1200" dirty="0"/>
          </a:p>
        </p:txBody>
      </p:sp>
      <p:sp>
        <p:nvSpPr>
          <p:cNvPr id="30" name="Text 23"/>
          <p:cNvSpPr/>
          <p:nvPr/>
        </p:nvSpPr>
        <p:spPr>
          <a:xfrm>
            <a:off x="4754091" y="4285357"/>
            <a:ext cx="3779490" cy="397222"/>
          </a:xfrm>
          <a:prstGeom prst="rect">
            <a:avLst/>
          </a:prstGeom>
          <a:noFill/>
          <a:ln/>
        </p:spPr>
        <p:txBody>
          <a:bodyPr wrap="square" lIns="0" tIns="0" rIns="0" bIns="0" rtlCol="0" anchor="t"/>
          <a:lstStyle/>
          <a:p>
            <a:pPr marL="0" indent="0" algn="l">
              <a:lnSpc>
                <a:spcPts val="1500"/>
              </a:lnSpc>
              <a:buNone/>
            </a:pPr>
            <a:r>
              <a:rPr lang="en-US" sz="950" dirty="0">
                <a:solidFill>
                  <a:srgbClr val="464646"/>
                </a:solidFill>
                <a:latin typeface="Inter Medium" pitchFamily="34" charset="0"/>
                <a:ea typeface="Inter Medium" pitchFamily="34" charset="-122"/>
                <a:cs typeface="Inter Medium" pitchFamily="34" charset="-120"/>
              </a:rPr>
              <a:t>Used </a:t>
            </a:r>
            <a:r>
              <a:rPr lang="en-US" sz="950" dirty="0">
                <a:solidFill>
                  <a:srgbClr val="464646"/>
                </a:solidFill>
                <a:highlight>
                  <a:srgbClr val="F2F2F2"/>
                </a:highlight>
                <a:latin typeface="Consolas" pitchFamily="34" charset="0"/>
                <a:ea typeface="Consolas" pitchFamily="34" charset="-122"/>
                <a:cs typeface="Consolas" pitchFamily="34" charset="-120"/>
              </a:rPr>
              <a:t>re.search()</a:t>
            </a:r>
            <a:r>
              <a:rPr lang="en-US" sz="950" dirty="0">
                <a:solidFill>
                  <a:srgbClr val="464646"/>
                </a:solidFill>
                <a:latin typeface="Inter Medium" pitchFamily="34" charset="0"/>
                <a:ea typeface="Inter Medium" pitchFamily="34" charset="-122"/>
                <a:cs typeface="Inter Medium" pitchFamily="34" charset="-120"/>
              </a:rPr>
              <a:t> patterns to extract RAM (e.g., "8 GB"), Storage (e.g., "128 GB"), and Brand from the product name.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34132" y="335161"/>
            <a:ext cx="1457102" cy="195263"/>
          </a:xfrm>
          <a:prstGeom prst="roundRect">
            <a:avLst>
              <a:gd name="adj" fmla="val 6670"/>
            </a:avLst>
          </a:prstGeom>
          <a:solidFill>
            <a:srgbClr val="D4F7EC"/>
          </a:solidFill>
          <a:ln/>
        </p:spPr>
        <p:txBody>
          <a:bodyPr/>
          <a:lstStyle/>
          <a:p>
            <a:endParaRPr lang="en-IN"/>
          </a:p>
        </p:txBody>
      </p:sp>
      <p:sp>
        <p:nvSpPr>
          <p:cNvPr id="3" name="Text 1"/>
          <p:cNvSpPr/>
          <p:nvPr/>
        </p:nvSpPr>
        <p:spPr>
          <a:xfrm>
            <a:off x="499244" y="367680"/>
            <a:ext cx="1326877" cy="130225"/>
          </a:xfrm>
          <a:prstGeom prst="rect">
            <a:avLst/>
          </a:prstGeom>
          <a:noFill/>
          <a:ln/>
        </p:spPr>
        <p:txBody>
          <a:bodyPr wrap="none" lIns="0" tIns="0" rIns="0" bIns="0" rtlCol="0" anchor="t"/>
          <a:lstStyle/>
          <a:p>
            <a:pPr marL="0" indent="0" algn="l">
              <a:lnSpc>
                <a:spcPts val="1000"/>
              </a:lnSpc>
              <a:buNone/>
            </a:pPr>
            <a:r>
              <a:rPr lang="en-US" sz="650" dirty="0">
                <a:solidFill>
                  <a:srgbClr val="464646"/>
                </a:solidFill>
                <a:latin typeface="Inter Medium" pitchFamily="34" charset="0"/>
                <a:ea typeface="Inter Medium" pitchFamily="34" charset="-122"/>
                <a:cs typeface="Inter Medium" pitchFamily="34" charset="-120"/>
              </a:rPr>
              <a:t>EXPLORATORY DATA ANALYSIS</a:t>
            </a:r>
            <a:endParaRPr lang="en-US" sz="650" dirty="0"/>
          </a:p>
        </p:txBody>
      </p:sp>
      <p:sp>
        <p:nvSpPr>
          <p:cNvPr id="4" name="Text 2"/>
          <p:cNvSpPr/>
          <p:nvPr/>
        </p:nvSpPr>
        <p:spPr>
          <a:xfrm>
            <a:off x="434132" y="568375"/>
            <a:ext cx="3958530" cy="339179"/>
          </a:xfrm>
          <a:prstGeom prst="rect">
            <a:avLst/>
          </a:prstGeom>
          <a:noFill/>
          <a:ln/>
        </p:spPr>
        <p:txBody>
          <a:bodyPr wrap="none" lIns="0" tIns="0" rIns="0" bIns="0" rtlCol="0" anchor="t"/>
          <a:lstStyle/>
          <a:p>
            <a:pPr marL="0" indent="0" algn="l">
              <a:lnSpc>
                <a:spcPts val="2650"/>
              </a:lnSpc>
              <a:buNone/>
            </a:pPr>
            <a:r>
              <a:rPr lang="en-US" sz="2100" dirty="0">
                <a:solidFill>
                  <a:srgbClr val="030303"/>
                </a:solidFill>
                <a:latin typeface="DM Sans Semi Bold" pitchFamily="34" charset="0"/>
                <a:ea typeface="DM Sans Semi Bold" pitchFamily="34" charset="-122"/>
                <a:cs typeface="DM Sans Semi Bold" pitchFamily="34" charset="-120"/>
              </a:rPr>
              <a:t>Univariate Analysis</a:t>
            </a:r>
            <a:endParaRPr lang="en-US" sz="2100" dirty="0"/>
          </a:p>
        </p:txBody>
      </p:sp>
      <p:sp>
        <p:nvSpPr>
          <p:cNvPr id="5" name="Text 3"/>
          <p:cNvSpPr/>
          <p:nvPr/>
        </p:nvSpPr>
        <p:spPr>
          <a:xfrm>
            <a:off x="2877473" y="653206"/>
            <a:ext cx="3266629" cy="169515"/>
          </a:xfrm>
          <a:prstGeom prst="rect">
            <a:avLst/>
          </a:prstGeom>
          <a:noFill/>
          <a:ln/>
        </p:spPr>
        <p:txBody>
          <a:bodyPr wrap="none" lIns="0" tIns="0" rIns="0" bIns="0" rtlCol="0" anchor="t"/>
          <a:lstStyle/>
          <a:p>
            <a:pPr marL="0" indent="0" algn="l">
              <a:lnSpc>
                <a:spcPts val="1300"/>
              </a:lnSpc>
              <a:buNone/>
            </a:pPr>
            <a:r>
              <a:rPr lang="en-US" sz="1400" dirty="0">
                <a:solidFill>
                  <a:srgbClr val="030303"/>
                </a:solidFill>
                <a:latin typeface="DM Sans Semi Bold" pitchFamily="34" charset="0"/>
                <a:ea typeface="DM Sans Semi Bold" pitchFamily="34" charset="-122"/>
                <a:cs typeface="DM Sans Semi Bold" pitchFamily="34" charset="-120"/>
              </a:rPr>
              <a:t> — Understanding Distributions</a:t>
            </a:r>
            <a:endParaRPr lang="en-US" sz="1400" dirty="0"/>
          </a:p>
        </p:txBody>
      </p:sp>
      <p:sp>
        <p:nvSpPr>
          <p:cNvPr id="6" name="Text 4"/>
          <p:cNvSpPr/>
          <p:nvPr/>
        </p:nvSpPr>
        <p:spPr>
          <a:xfrm>
            <a:off x="484004" y="1015335"/>
            <a:ext cx="8328868" cy="292298"/>
          </a:xfrm>
          <a:prstGeom prst="rect">
            <a:avLst/>
          </a:prstGeom>
          <a:noFill/>
          <a:ln/>
        </p:spPr>
        <p:txBody>
          <a:bodyPr wrap="square" lIns="0" tIns="0" rIns="0" bIns="0" rtlCol="0" anchor="t"/>
          <a:lstStyle/>
          <a:p>
            <a:pPr marL="0" indent="0" algn="l">
              <a:lnSpc>
                <a:spcPts val="1250"/>
              </a:lnSpc>
              <a:buNone/>
            </a:pPr>
            <a:r>
              <a:rPr lang="en-US" sz="900" dirty="0">
                <a:solidFill>
                  <a:srgbClr val="464646"/>
                </a:solidFill>
                <a:latin typeface="Inter Medium" pitchFamily="34" charset="0"/>
                <a:ea typeface="Inter Medium" pitchFamily="34" charset="-122"/>
                <a:cs typeface="Inter Medium" pitchFamily="34" charset="-120"/>
              </a:rPr>
              <a:t>Single-variable analysis reveals the natural distribution of each key attribute, exposing skewness, outliers, and concentration patterns in the smartphone market.</a:t>
            </a:r>
            <a:endParaRPr lang="en-US" sz="900" dirty="0"/>
          </a:p>
        </p:txBody>
      </p:sp>
      <p:sp>
        <p:nvSpPr>
          <p:cNvPr id="7" name="Shape 5"/>
          <p:cNvSpPr/>
          <p:nvPr/>
        </p:nvSpPr>
        <p:spPr>
          <a:xfrm>
            <a:off x="434132" y="1481229"/>
            <a:ext cx="4005486" cy="835670"/>
          </a:xfrm>
          <a:prstGeom prst="roundRect">
            <a:avLst>
              <a:gd name="adj" fmla="val 8207"/>
            </a:avLst>
          </a:prstGeom>
          <a:solidFill>
            <a:srgbClr val="FFFFFF"/>
          </a:solidFill>
          <a:ln w="14288">
            <a:solidFill>
              <a:srgbClr val="D8D4D4"/>
            </a:solidFill>
            <a:prstDash val="solid"/>
          </a:ln>
        </p:spPr>
        <p:txBody>
          <a:bodyPr/>
          <a:lstStyle/>
          <a:p>
            <a:endParaRPr lang="en-IN"/>
          </a:p>
        </p:txBody>
      </p:sp>
      <p:sp>
        <p:nvSpPr>
          <p:cNvPr id="8" name="Shape 6"/>
          <p:cNvSpPr/>
          <p:nvPr/>
        </p:nvSpPr>
        <p:spPr>
          <a:xfrm>
            <a:off x="419844" y="1481229"/>
            <a:ext cx="57150" cy="835670"/>
          </a:xfrm>
          <a:prstGeom prst="roundRect">
            <a:avLst>
              <a:gd name="adj" fmla="val 28488"/>
            </a:avLst>
          </a:prstGeom>
          <a:solidFill>
            <a:srgbClr val="1C9770"/>
          </a:solidFill>
          <a:ln/>
        </p:spPr>
        <p:txBody>
          <a:bodyPr/>
          <a:lstStyle/>
          <a:p>
            <a:endParaRPr lang="en-IN"/>
          </a:p>
        </p:txBody>
      </p:sp>
      <p:sp>
        <p:nvSpPr>
          <p:cNvPr id="9" name="Text 7"/>
          <p:cNvSpPr/>
          <p:nvPr/>
        </p:nvSpPr>
        <p:spPr>
          <a:xfrm>
            <a:off x="599777" y="1604013"/>
            <a:ext cx="1356717" cy="169515"/>
          </a:xfrm>
          <a:prstGeom prst="rect">
            <a:avLst/>
          </a:prstGeom>
          <a:noFill/>
          <a:ln/>
        </p:spPr>
        <p:txBody>
          <a:bodyPr wrap="none" lIns="0" tIns="0" rIns="0" bIns="0" rtlCol="0" anchor="t"/>
          <a:lstStyle/>
          <a:p>
            <a:pPr marL="0" indent="0" algn="l">
              <a:lnSpc>
                <a:spcPts val="1300"/>
              </a:lnSpc>
              <a:buNone/>
            </a:pPr>
            <a:r>
              <a:rPr lang="en-US" sz="1050" dirty="0">
                <a:solidFill>
                  <a:srgbClr val="464646"/>
                </a:solidFill>
                <a:latin typeface="DM Sans Semi Bold" pitchFamily="34" charset="0"/>
                <a:ea typeface="DM Sans Semi Bold" pitchFamily="34" charset="-122"/>
                <a:cs typeface="DM Sans Semi Bold" pitchFamily="34" charset="-120"/>
              </a:rPr>
              <a:t>Price Distribution</a:t>
            </a:r>
            <a:endParaRPr lang="en-US" sz="1050" dirty="0"/>
          </a:p>
        </p:txBody>
      </p:sp>
      <p:sp>
        <p:nvSpPr>
          <p:cNvPr id="10" name="Text 8"/>
          <p:cNvSpPr/>
          <p:nvPr/>
        </p:nvSpPr>
        <p:spPr>
          <a:xfrm>
            <a:off x="599777" y="1868480"/>
            <a:ext cx="3717057" cy="325636"/>
          </a:xfrm>
          <a:prstGeom prst="rect">
            <a:avLst/>
          </a:prstGeom>
          <a:noFill/>
          <a:ln/>
        </p:spPr>
        <p:txBody>
          <a:bodyPr wrap="square" lIns="0" tIns="0" rIns="0" bIns="0" rtlCol="0" anchor="t"/>
          <a:lstStyle/>
          <a:p>
            <a:pPr>
              <a:lnSpc>
                <a:spcPts val="1250"/>
              </a:lnSpc>
            </a:pPr>
            <a:r>
              <a:rPr lang="en-US" sz="900" dirty="0">
                <a:solidFill>
                  <a:schemeClr val="tx1">
                    <a:lumMod val="65000"/>
                    <a:lumOff val="35000"/>
                  </a:schemeClr>
                </a:solidFill>
                <a:latin typeface="Inter Medium" panose="020B0604020202020204" charset="0"/>
                <a:ea typeface="Inter Medium" panose="020B0604020202020204" charset="0"/>
              </a:rPr>
              <a:t>The price distribution is positively skewed, with most smartphones concentrated in the budget to mid-range segment. </a:t>
            </a:r>
            <a:endParaRPr lang="en-US" sz="850" dirty="0">
              <a:solidFill>
                <a:schemeClr val="tx1">
                  <a:lumMod val="65000"/>
                  <a:lumOff val="35000"/>
                </a:schemeClr>
              </a:solidFill>
              <a:latin typeface="Inter Medium" panose="020B0604020202020204" charset="0"/>
              <a:ea typeface="Inter Medium" panose="020B0604020202020204" charset="0"/>
            </a:endParaRPr>
          </a:p>
        </p:txBody>
      </p:sp>
      <p:sp>
        <p:nvSpPr>
          <p:cNvPr id="15" name="Shape 13"/>
          <p:cNvSpPr/>
          <p:nvPr/>
        </p:nvSpPr>
        <p:spPr>
          <a:xfrm>
            <a:off x="4785409" y="1456919"/>
            <a:ext cx="4005486" cy="835670"/>
          </a:xfrm>
          <a:prstGeom prst="roundRect">
            <a:avLst>
              <a:gd name="adj" fmla="val 8207"/>
            </a:avLst>
          </a:prstGeom>
          <a:solidFill>
            <a:srgbClr val="FFFFFF"/>
          </a:solidFill>
          <a:ln w="14288">
            <a:solidFill>
              <a:srgbClr val="D8D4D4"/>
            </a:solidFill>
            <a:prstDash val="solid"/>
          </a:ln>
        </p:spPr>
        <p:txBody>
          <a:bodyPr/>
          <a:lstStyle/>
          <a:p>
            <a:endParaRPr lang="en-IN"/>
          </a:p>
        </p:txBody>
      </p:sp>
      <p:sp>
        <p:nvSpPr>
          <p:cNvPr id="16" name="Shape 14"/>
          <p:cNvSpPr/>
          <p:nvPr/>
        </p:nvSpPr>
        <p:spPr>
          <a:xfrm>
            <a:off x="4771121" y="1456919"/>
            <a:ext cx="57150" cy="835670"/>
          </a:xfrm>
          <a:prstGeom prst="roundRect">
            <a:avLst>
              <a:gd name="adj" fmla="val 28488"/>
            </a:avLst>
          </a:prstGeom>
          <a:solidFill>
            <a:srgbClr val="1C9770"/>
          </a:solidFill>
          <a:ln/>
        </p:spPr>
        <p:txBody>
          <a:bodyPr/>
          <a:lstStyle/>
          <a:p>
            <a:endParaRPr lang="en-IN"/>
          </a:p>
        </p:txBody>
      </p:sp>
      <p:sp>
        <p:nvSpPr>
          <p:cNvPr id="17" name="Text 15"/>
          <p:cNvSpPr/>
          <p:nvPr/>
        </p:nvSpPr>
        <p:spPr>
          <a:xfrm>
            <a:off x="4951054" y="1501823"/>
            <a:ext cx="1658764" cy="169515"/>
          </a:xfrm>
          <a:prstGeom prst="rect">
            <a:avLst/>
          </a:prstGeom>
          <a:noFill/>
          <a:ln/>
        </p:spPr>
        <p:txBody>
          <a:bodyPr wrap="none" lIns="0" tIns="0" rIns="0" bIns="0" rtlCol="0" anchor="t"/>
          <a:lstStyle/>
          <a:p>
            <a:pPr marL="0" indent="0" algn="l">
              <a:lnSpc>
                <a:spcPts val="1300"/>
              </a:lnSpc>
              <a:buNone/>
            </a:pPr>
            <a:r>
              <a:rPr lang="en-US" sz="1050" dirty="0">
                <a:solidFill>
                  <a:srgbClr val="464646"/>
                </a:solidFill>
                <a:latin typeface="DM Sans Semi Bold" pitchFamily="34" charset="0"/>
                <a:ea typeface="DM Sans Semi Bold" pitchFamily="34" charset="-122"/>
                <a:cs typeface="DM Sans Semi Bold" pitchFamily="34" charset="-120"/>
              </a:rPr>
              <a:t>RAM Distribution</a:t>
            </a:r>
            <a:endParaRPr lang="en-US" sz="1050" dirty="0"/>
          </a:p>
        </p:txBody>
      </p:sp>
      <p:sp>
        <p:nvSpPr>
          <p:cNvPr id="18" name="Text 16"/>
          <p:cNvSpPr/>
          <p:nvPr/>
        </p:nvSpPr>
        <p:spPr>
          <a:xfrm>
            <a:off x="4943981" y="1685450"/>
            <a:ext cx="3717057" cy="325636"/>
          </a:xfrm>
          <a:prstGeom prst="rect">
            <a:avLst/>
          </a:prstGeom>
          <a:noFill/>
          <a:ln/>
        </p:spPr>
        <p:txBody>
          <a:bodyPr wrap="square" lIns="0" tIns="0" rIns="0" bIns="0" rtlCol="0" anchor="t"/>
          <a:lstStyle/>
          <a:p>
            <a:r>
              <a:rPr lang="en-US" sz="900" dirty="0">
                <a:solidFill>
                  <a:schemeClr val="tx1">
                    <a:lumMod val="65000"/>
                    <a:lumOff val="35000"/>
                  </a:schemeClr>
                </a:solidFill>
                <a:latin typeface="Inter Medium" panose="020B0604020202020204" charset="0"/>
                <a:ea typeface="Inter Medium" panose="020B0604020202020204" charset="0"/>
              </a:rPr>
              <a:t>Clustered heavily around 6GB–8GB configurations, with 8GB RAM dominating the majority of smartphone listings. This indicates that mid-to-high performance devices are the most common in the market</a:t>
            </a:r>
            <a:endParaRPr lang="en-US" sz="800" dirty="0">
              <a:solidFill>
                <a:schemeClr val="tx1">
                  <a:lumMod val="65000"/>
                  <a:lumOff val="35000"/>
                </a:schemeClr>
              </a:solidFill>
              <a:latin typeface="Inter Medium" panose="020B0604020202020204" charset="0"/>
              <a:ea typeface="Inter Medium" panose="020B0604020202020204" charset="0"/>
            </a:endParaRPr>
          </a:p>
        </p:txBody>
      </p:sp>
      <p:pic>
        <p:nvPicPr>
          <p:cNvPr id="12" name="Picture 11">
            <a:extLst>
              <a:ext uri="{FF2B5EF4-FFF2-40B4-BE49-F238E27FC236}">
                <a16:creationId xmlns:a16="http://schemas.microsoft.com/office/drawing/2014/main" id="{0C2E8BA8-C5FF-EE11-656B-E9187A0E49AE}"/>
              </a:ext>
            </a:extLst>
          </p:cNvPr>
          <p:cNvPicPr>
            <a:picLocks noChangeAspect="1"/>
          </p:cNvPicPr>
          <p:nvPr/>
        </p:nvPicPr>
        <p:blipFill>
          <a:blip r:embed="rId3"/>
          <a:stretch>
            <a:fillRect/>
          </a:stretch>
        </p:blipFill>
        <p:spPr>
          <a:xfrm>
            <a:off x="534328" y="2439683"/>
            <a:ext cx="3719053" cy="25217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5726D03A-80E9-329F-EB5D-CAC9D73805D5}"/>
              </a:ext>
            </a:extLst>
          </p:cNvPr>
          <p:cNvPicPr>
            <a:picLocks noChangeAspect="1"/>
          </p:cNvPicPr>
          <p:nvPr/>
        </p:nvPicPr>
        <p:blipFill>
          <a:blip r:embed="rId4"/>
          <a:stretch>
            <a:fillRect/>
          </a:stretch>
        </p:blipFill>
        <p:spPr>
          <a:xfrm>
            <a:off x="4943980" y="2439683"/>
            <a:ext cx="3717057" cy="25217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997D3929-00AD-6D0A-13BD-DA2E3739CDA6}"/>
              </a:ext>
            </a:extLst>
          </p:cNvPr>
          <p:cNvSpPr/>
          <p:nvPr/>
        </p:nvSpPr>
        <p:spPr>
          <a:xfrm>
            <a:off x="434132" y="568375"/>
            <a:ext cx="3958530" cy="339179"/>
          </a:xfrm>
          <a:prstGeom prst="rect">
            <a:avLst/>
          </a:prstGeom>
          <a:noFill/>
          <a:ln/>
        </p:spPr>
        <p:txBody>
          <a:bodyPr wrap="none" lIns="0" tIns="0" rIns="0" bIns="0" rtlCol="0" anchor="t"/>
          <a:lstStyle/>
          <a:p>
            <a:pPr marL="0" indent="0" algn="l">
              <a:lnSpc>
                <a:spcPts val="2650"/>
              </a:lnSpc>
              <a:buNone/>
            </a:pPr>
            <a:r>
              <a:rPr lang="en-US" sz="2100" dirty="0">
                <a:solidFill>
                  <a:srgbClr val="030303"/>
                </a:solidFill>
                <a:latin typeface="DM Sans Semi Bold" pitchFamily="34" charset="0"/>
                <a:ea typeface="DM Sans Semi Bold" pitchFamily="34" charset="-122"/>
                <a:cs typeface="DM Sans Semi Bold" pitchFamily="34" charset="-120"/>
              </a:rPr>
              <a:t>Bivariate Analysis</a:t>
            </a:r>
            <a:endParaRPr lang="en-US" sz="2100" dirty="0"/>
          </a:p>
        </p:txBody>
      </p:sp>
      <p:sp>
        <p:nvSpPr>
          <p:cNvPr id="19" name="Text 17"/>
          <p:cNvSpPr/>
          <p:nvPr/>
        </p:nvSpPr>
        <p:spPr>
          <a:xfrm>
            <a:off x="2689802" y="684402"/>
            <a:ext cx="3452515" cy="169515"/>
          </a:xfrm>
          <a:prstGeom prst="rect">
            <a:avLst/>
          </a:prstGeom>
          <a:noFill/>
          <a:ln/>
        </p:spPr>
        <p:txBody>
          <a:bodyPr wrap="none" lIns="0" tIns="0" rIns="0" bIns="0" rtlCol="0" anchor="t"/>
          <a:lstStyle/>
          <a:p>
            <a:pPr marL="0" indent="0" algn="l">
              <a:lnSpc>
                <a:spcPts val="1300"/>
              </a:lnSpc>
              <a:buNone/>
            </a:pPr>
            <a:r>
              <a:rPr lang="en-US" sz="1400" dirty="0">
                <a:solidFill>
                  <a:srgbClr val="030303"/>
                </a:solidFill>
                <a:latin typeface="DM Sans Semi Bold" pitchFamily="34" charset="0"/>
                <a:ea typeface="DM Sans Semi Bold" pitchFamily="34" charset="-122"/>
                <a:cs typeface="DM Sans Semi Bold" pitchFamily="34" charset="-120"/>
              </a:rPr>
              <a:t>— Relationships Between Variables</a:t>
            </a:r>
            <a:endParaRPr lang="en-US" sz="1400" dirty="0"/>
          </a:p>
        </p:txBody>
      </p:sp>
      <p:sp>
        <p:nvSpPr>
          <p:cNvPr id="20" name="Text 18"/>
          <p:cNvSpPr/>
          <p:nvPr/>
        </p:nvSpPr>
        <p:spPr>
          <a:xfrm>
            <a:off x="473304" y="969169"/>
            <a:ext cx="7932628" cy="325636"/>
          </a:xfrm>
          <a:prstGeom prst="rect">
            <a:avLst/>
          </a:prstGeom>
          <a:noFill/>
          <a:ln/>
        </p:spPr>
        <p:txBody>
          <a:bodyPr wrap="square" lIns="0" tIns="0" rIns="0" bIns="0" rtlCol="0" anchor="t"/>
          <a:lstStyle/>
          <a:p>
            <a:pPr marL="0" indent="0" algn="l">
              <a:lnSpc>
                <a:spcPts val="1250"/>
              </a:lnSpc>
              <a:buNone/>
            </a:pPr>
            <a:r>
              <a:rPr lang="en-US" sz="900" dirty="0">
                <a:solidFill>
                  <a:srgbClr val="464646"/>
                </a:solidFill>
                <a:latin typeface="Inter Medium" pitchFamily="34" charset="0"/>
                <a:ea typeface="Inter Medium" pitchFamily="34" charset="-122"/>
                <a:cs typeface="Inter Medium" pitchFamily="34" charset="-120"/>
              </a:rPr>
              <a:t>Two-variable analysis uncovers how specifications and brand identity interact with the target variables: Price and Rating.</a:t>
            </a:r>
            <a:endParaRPr lang="en-US" sz="900" dirty="0"/>
          </a:p>
        </p:txBody>
      </p:sp>
      <p:sp>
        <p:nvSpPr>
          <p:cNvPr id="3" name="Shape 19">
            <a:extLst>
              <a:ext uri="{FF2B5EF4-FFF2-40B4-BE49-F238E27FC236}">
                <a16:creationId xmlns:a16="http://schemas.microsoft.com/office/drawing/2014/main" id="{BCEB7F68-B336-78A2-5AC7-E14150B838E9}"/>
              </a:ext>
            </a:extLst>
          </p:cNvPr>
          <p:cNvSpPr/>
          <p:nvPr/>
        </p:nvSpPr>
        <p:spPr>
          <a:xfrm>
            <a:off x="434132" y="1295057"/>
            <a:ext cx="4005486" cy="835670"/>
          </a:xfrm>
          <a:prstGeom prst="roundRect">
            <a:avLst>
              <a:gd name="adj" fmla="val 8207"/>
            </a:avLst>
          </a:prstGeom>
          <a:solidFill>
            <a:srgbClr val="FFFFFF"/>
          </a:solidFill>
          <a:ln w="14288">
            <a:solidFill>
              <a:srgbClr val="D8D4D4"/>
            </a:solidFill>
            <a:prstDash val="solid"/>
          </a:ln>
        </p:spPr>
        <p:txBody>
          <a:bodyPr/>
          <a:lstStyle/>
          <a:p>
            <a:endParaRPr lang="en-IN"/>
          </a:p>
        </p:txBody>
      </p:sp>
      <p:sp>
        <p:nvSpPr>
          <p:cNvPr id="4" name="Text 21">
            <a:extLst>
              <a:ext uri="{FF2B5EF4-FFF2-40B4-BE49-F238E27FC236}">
                <a16:creationId xmlns:a16="http://schemas.microsoft.com/office/drawing/2014/main" id="{AD8F2C33-D973-E8DB-BBD4-BA4F63C82545}"/>
              </a:ext>
            </a:extLst>
          </p:cNvPr>
          <p:cNvSpPr/>
          <p:nvPr/>
        </p:nvSpPr>
        <p:spPr>
          <a:xfrm>
            <a:off x="561871" y="1372447"/>
            <a:ext cx="1870100" cy="169515"/>
          </a:xfrm>
          <a:prstGeom prst="rect">
            <a:avLst/>
          </a:prstGeom>
          <a:noFill/>
          <a:ln/>
        </p:spPr>
        <p:txBody>
          <a:bodyPr wrap="none" lIns="0" tIns="0" rIns="0" bIns="0" rtlCol="0" anchor="t"/>
          <a:lstStyle/>
          <a:p>
            <a:pPr marL="0" indent="0" algn="l">
              <a:lnSpc>
                <a:spcPts val="1300"/>
              </a:lnSpc>
              <a:buNone/>
            </a:pPr>
            <a:r>
              <a:rPr lang="en-US" sz="1050" dirty="0">
                <a:solidFill>
                  <a:srgbClr val="464646"/>
                </a:solidFill>
                <a:latin typeface="DM Sans Semi Bold" pitchFamily="34" charset="0"/>
                <a:ea typeface="DM Sans Semi Bold" pitchFamily="34" charset="-122"/>
                <a:cs typeface="DM Sans Semi Bold" pitchFamily="34" charset="-120"/>
              </a:rPr>
              <a:t>Price vs. Rating (Scatterplot)</a:t>
            </a:r>
            <a:endParaRPr lang="en-US" sz="1050" dirty="0"/>
          </a:p>
        </p:txBody>
      </p:sp>
      <p:sp>
        <p:nvSpPr>
          <p:cNvPr id="5" name="Text 22">
            <a:extLst>
              <a:ext uri="{FF2B5EF4-FFF2-40B4-BE49-F238E27FC236}">
                <a16:creationId xmlns:a16="http://schemas.microsoft.com/office/drawing/2014/main" id="{8388A1CB-33D5-099F-3A77-80D591719D3A}"/>
              </a:ext>
            </a:extLst>
          </p:cNvPr>
          <p:cNvSpPr/>
          <p:nvPr/>
        </p:nvSpPr>
        <p:spPr>
          <a:xfrm>
            <a:off x="561871" y="1636914"/>
            <a:ext cx="3717057" cy="325636"/>
          </a:xfrm>
          <a:prstGeom prst="rect">
            <a:avLst/>
          </a:prstGeom>
          <a:noFill/>
          <a:ln/>
        </p:spPr>
        <p:txBody>
          <a:bodyPr wrap="square" lIns="0" tIns="0" rIns="0" bIns="0" rtlCol="0" anchor="t"/>
          <a:lstStyle/>
          <a:p>
            <a:pPr>
              <a:lnSpc>
                <a:spcPts val="1250"/>
              </a:lnSpc>
            </a:pPr>
            <a:r>
              <a:rPr lang="en-US" sz="900" dirty="0">
                <a:solidFill>
                  <a:schemeClr val="tx1">
                    <a:lumMod val="65000"/>
                    <a:lumOff val="35000"/>
                  </a:schemeClr>
                </a:solidFill>
                <a:latin typeface="Inter Medium" panose="020B0604020202020204" charset="0"/>
                <a:ea typeface="Inter Medium" panose="020B0604020202020204" charset="0"/>
              </a:rPr>
              <a:t>Higher smartphone prices do not always mean better ratings, as customer satisfaction remains fairly similar across price ranges.</a:t>
            </a:r>
            <a:endParaRPr lang="en-US" sz="850" dirty="0">
              <a:solidFill>
                <a:schemeClr val="tx1">
                  <a:lumMod val="65000"/>
                  <a:lumOff val="35000"/>
                </a:schemeClr>
              </a:solidFill>
              <a:latin typeface="Inter Medium" panose="020B0604020202020204" charset="0"/>
              <a:ea typeface="Inter Medium" panose="020B0604020202020204" charset="0"/>
            </a:endParaRPr>
          </a:p>
        </p:txBody>
      </p:sp>
      <p:sp>
        <p:nvSpPr>
          <p:cNvPr id="6" name="Shape 20">
            <a:extLst>
              <a:ext uri="{FF2B5EF4-FFF2-40B4-BE49-F238E27FC236}">
                <a16:creationId xmlns:a16="http://schemas.microsoft.com/office/drawing/2014/main" id="{AC16319A-0387-2863-9294-108AA121FC6D}"/>
              </a:ext>
            </a:extLst>
          </p:cNvPr>
          <p:cNvSpPr/>
          <p:nvPr/>
        </p:nvSpPr>
        <p:spPr>
          <a:xfrm>
            <a:off x="435278" y="1296337"/>
            <a:ext cx="57150" cy="835670"/>
          </a:xfrm>
          <a:prstGeom prst="roundRect">
            <a:avLst>
              <a:gd name="adj" fmla="val 28488"/>
            </a:avLst>
          </a:prstGeom>
          <a:solidFill>
            <a:srgbClr val="1C9770"/>
          </a:solidFill>
          <a:ln/>
        </p:spPr>
        <p:txBody>
          <a:bodyPr/>
          <a:lstStyle/>
          <a:p>
            <a:endParaRPr lang="en-IN"/>
          </a:p>
        </p:txBody>
      </p:sp>
      <p:sp>
        <p:nvSpPr>
          <p:cNvPr id="25" name="Shape 23"/>
          <p:cNvSpPr/>
          <p:nvPr/>
        </p:nvSpPr>
        <p:spPr>
          <a:xfrm>
            <a:off x="4687331" y="1301736"/>
            <a:ext cx="4005486" cy="835670"/>
          </a:xfrm>
          <a:prstGeom prst="roundRect">
            <a:avLst>
              <a:gd name="adj" fmla="val 8207"/>
            </a:avLst>
          </a:prstGeom>
          <a:solidFill>
            <a:srgbClr val="FFFFFF"/>
          </a:solidFill>
          <a:ln w="14288">
            <a:solidFill>
              <a:srgbClr val="D8D4D4"/>
            </a:solidFill>
            <a:prstDash val="solid"/>
          </a:ln>
        </p:spPr>
        <p:txBody>
          <a:bodyPr/>
          <a:lstStyle/>
          <a:p>
            <a:endParaRPr lang="en-IN"/>
          </a:p>
        </p:txBody>
      </p:sp>
      <p:sp>
        <p:nvSpPr>
          <p:cNvPr id="26" name="Shape 24"/>
          <p:cNvSpPr/>
          <p:nvPr/>
        </p:nvSpPr>
        <p:spPr>
          <a:xfrm>
            <a:off x="4673044" y="1301736"/>
            <a:ext cx="57150" cy="835670"/>
          </a:xfrm>
          <a:prstGeom prst="roundRect">
            <a:avLst>
              <a:gd name="adj" fmla="val 28488"/>
            </a:avLst>
          </a:prstGeom>
          <a:solidFill>
            <a:srgbClr val="1C9770"/>
          </a:solidFill>
          <a:ln/>
        </p:spPr>
        <p:txBody>
          <a:bodyPr/>
          <a:lstStyle/>
          <a:p>
            <a:endParaRPr lang="en-IN"/>
          </a:p>
        </p:txBody>
      </p:sp>
      <p:sp>
        <p:nvSpPr>
          <p:cNvPr id="27" name="Text 25"/>
          <p:cNvSpPr/>
          <p:nvPr/>
        </p:nvSpPr>
        <p:spPr>
          <a:xfrm>
            <a:off x="4852977" y="1424519"/>
            <a:ext cx="2184648" cy="169515"/>
          </a:xfrm>
          <a:prstGeom prst="rect">
            <a:avLst/>
          </a:prstGeom>
          <a:noFill/>
          <a:ln/>
        </p:spPr>
        <p:txBody>
          <a:bodyPr wrap="none" lIns="0" tIns="0" rIns="0" bIns="0" rtlCol="0" anchor="t"/>
          <a:lstStyle/>
          <a:p>
            <a:pPr marL="0" indent="0" algn="l">
              <a:lnSpc>
                <a:spcPts val="1300"/>
              </a:lnSpc>
              <a:buNone/>
            </a:pPr>
            <a:r>
              <a:rPr lang="en-US" sz="1050" dirty="0">
                <a:solidFill>
                  <a:srgbClr val="464646"/>
                </a:solidFill>
                <a:latin typeface="DM Sans Semi Bold" pitchFamily="34" charset="0"/>
                <a:ea typeface="DM Sans Semi Bold" pitchFamily="34" charset="-122"/>
                <a:cs typeface="DM Sans Semi Bold" pitchFamily="34" charset="-120"/>
              </a:rPr>
              <a:t>RAM vs. Price (Boxplot)</a:t>
            </a:r>
            <a:endParaRPr lang="en-US" sz="1050" dirty="0"/>
          </a:p>
        </p:txBody>
      </p:sp>
      <p:sp>
        <p:nvSpPr>
          <p:cNvPr id="28" name="Text 26"/>
          <p:cNvSpPr/>
          <p:nvPr/>
        </p:nvSpPr>
        <p:spPr>
          <a:xfrm>
            <a:off x="4852977" y="1688987"/>
            <a:ext cx="3717057" cy="325636"/>
          </a:xfrm>
          <a:prstGeom prst="rect">
            <a:avLst/>
          </a:prstGeom>
          <a:noFill/>
          <a:ln/>
        </p:spPr>
        <p:txBody>
          <a:bodyPr wrap="square" lIns="0" tIns="0" rIns="0" bIns="0" rtlCol="0" anchor="t"/>
          <a:lstStyle/>
          <a:p>
            <a:pPr>
              <a:lnSpc>
                <a:spcPts val="1250"/>
              </a:lnSpc>
            </a:pPr>
            <a:r>
              <a:rPr lang="en-US" sz="900" dirty="0">
                <a:solidFill>
                  <a:schemeClr val="tx1">
                    <a:lumMod val="65000"/>
                    <a:lumOff val="35000"/>
                  </a:schemeClr>
                </a:solidFill>
                <a:latin typeface="Inter Medium" panose="020B0604020202020204" charset="0"/>
                <a:ea typeface="Inter Medium" panose="020B0604020202020204" charset="0"/>
              </a:rPr>
              <a:t>Smartphones with higher RAM generally have higher prices, making RAM a strong factor in pricing.</a:t>
            </a:r>
            <a:endParaRPr lang="en-US" sz="850" dirty="0">
              <a:solidFill>
                <a:schemeClr val="tx1">
                  <a:lumMod val="65000"/>
                  <a:lumOff val="35000"/>
                </a:schemeClr>
              </a:solidFill>
              <a:latin typeface="Inter Medium" panose="020B0604020202020204" charset="0"/>
              <a:ea typeface="Inter Medium" panose="020B0604020202020204" charset="0"/>
            </a:endParaRPr>
          </a:p>
        </p:txBody>
      </p:sp>
      <p:pic>
        <p:nvPicPr>
          <p:cNvPr id="8" name="Picture 7">
            <a:extLst>
              <a:ext uri="{FF2B5EF4-FFF2-40B4-BE49-F238E27FC236}">
                <a16:creationId xmlns:a16="http://schemas.microsoft.com/office/drawing/2014/main" id="{7222CB1D-3087-EEF4-EC26-ED002A16CCC7}"/>
              </a:ext>
            </a:extLst>
          </p:cNvPr>
          <p:cNvPicPr>
            <a:picLocks noChangeAspect="1"/>
          </p:cNvPicPr>
          <p:nvPr/>
        </p:nvPicPr>
        <p:blipFill>
          <a:blip r:embed="rId2"/>
          <a:stretch>
            <a:fillRect/>
          </a:stretch>
        </p:blipFill>
        <p:spPr>
          <a:xfrm>
            <a:off x="408321" y="2304407"/>
            <a:ext cx="4005486" cy="26973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F232258A-A519-69ED-187A-11CD76111DE2}"/>
              </a:ext>
            </a:extLst>
          </p:cNvPr>
          <p:cNvPicPr>
            <a:picLocks noChangeAspect="1"/>
          </p:cNvPicPr>
          <p:nvPr/>
        </p:nvPicPr>
        <p:blipFill>
          <a:blip r:embed="rId3"/>
          <a:stretch>
            <a:fillRect/>
          </a:stretch>
        </p:blipFill>
        <p:spPr>
          <a:xfrm>
            <a:off x="4730194" y="2304407"/>
            <a:ext cx="4166127" cy="27092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17519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8" name="Shape 23">
            <a:extLst>
              <a:ext uri="{FF2B5EF4-FFF2-40B4-BE49-F238E27FC236}">
                <a16:creationId xmlns:a16="http://schemas.microsoft.com/office/drawing/2014/main" id="{79E86A87-37BB-74D7-3431-2D9A11308325}"/>
              </a:ext>
            </a:extLst>
          </p:cNvPr>
          <p:cNvSpPr/>
          <p:nvPr/>
        </p:nvSpPr>
        <p:spPr>
          <a:xfrm>
            <a:off x="418028" y="2065957"/>
            <a:ext cx="4103521" cy="1686236"/>
          </a:xfrm>
          <a:prstGeom prst="roundRect">
            <a:avLst>
              <a:gd name="adj" fmla="val 8207"/>
            </a:avLst>
          </a:prstGeom>
          <a:solidFill>
            <a:srgbClr val="FFFFFF"/>
          </a:solidFill>
          <a:ln w="14288">
            <a:solidFill>
              <a:srgbClr val="D8D4D4"/>
            </a:solidFill>
            <a:prstDash val="solid"/>
          </a:ln>
        </p:spPr>
        <p:txBody>
          <a:bodyPr/>
          <a:lstStyle/>
          <a:p>
            <a:endParaRPr lang="en-IN"/>
          </a:p>
        </p:txBody>
      </p:sp>
      <p:sp>
        <p:nvSpPr>
          <p:cNvPr id="4" name="Text 2"/>
          <p:cNvSpPr/>
          <p:nvPr/>
        </p:nvSpPr>
        <p:spPr>
          <a:xfrm>
            <a:off x="521643" y="519038"/>
            <a:ext cx="5055022" cy="320948"/>
          </a:xfrm>
          <a:prstGeom prst="rect">
            <a:avLst/>
          </a:prstGeom>
          <a:noFill/>
          <a:ln/>
        </p:spPr>
        <p:txBody>
          <a:bodyPr wrap="none" lIns="0" tIns="0" rIns="0" bIns="0" rtlCol="0" anchor="t"/>
          <a:lstStyle/>
          <a:p>
            <a:pPr marL="0" indent="0" algn="l">
              <a:lnSpc>
                <a:spcPts val="2500"/>
              </a:lnSpc>
              <a:buNone/>
            </a:pPr>
            <a:r>
              <a:rPr lang="en-US" sz="2000" dirty="0">
                <a:solidFill>
                  <a:srgbClr val="030303"/>
                </a:solidFill>
                <a:latin typeface="DM Sans Semi Bold" pitchFamily="34" charset="0"/>
                <a:ea typeface="DM Sans Semi Bold" pitchFamily="34" charset="-122"/>
                <a:cs typeface="DM Sans Semi Bold" pitchFamily="34" charset="-120"/>
              </a:rPr>
              <a:t>Multivariate Analysis </a:t>
            </a:r>
            <a:endParaRPr lang="en-US" sz="2000" dirty="0"/>
          </a:p>
        </p:txBody>
      </p:sp>
      <p:sp>
        <p:nvSpPr>
          <p:cNvPr id="5" name="Text 3"/>
          <p:cNvSpPr/>
          <p:nvPr/>
        </p:nvSpPr>
        <p:spPr>
          <a:xfrm>
            <a:off x="521643" y="1052587"/>
            <a:ext cx="1989311" cy="160511"/>
          </a:xfrm>
          <a:prstGeom prst="rect">
            <a:avLst/>
          </a:prstGeom>
          <a:noFill/>
          <a:ln/>
        </p:spPr>
        <p:txBody>
          <a:bodyPr wrap="none" lIns="0" tIns="0" rIns="0" bIns="0" rtlCol="0" anchor="t"/>
          <a:lstStyle/>
          <a:p>
            <a:pPr marL="0" indent="0" algn="l">
              <a:lnSpc>
                <a:spcPts val="1250"/>
              </a:lnSpc>
              <a:buNone/>
            </a:pPr>
            <a:r>
              <a:rPr lang="en-US" sz="1000" dirty="0">
                <a:solidFill>
                  <a:srgbClr val="030303"/>
                </a:solidFill>
                <a:latin typeface="DM Sans Semi Bold" pitchFamily="34" charset="0"/>
                <a:ea typeface="DM Sans Semi Bold" pitchFamily="34" charset="-122"/>
                <a:cs typeface="DM Sans Semi Bold" pitchFamily="34" charset="-120"/>
              </a:rPr>
              <a:t>Multivariate Techniques Applied</a:t>
            </a:r>
            <a:endParaRPr lang="en-US" sz="1000" dirty="0"/>
          </a:p>
        </p:txBody>
      </p:sp>
      <p:sp>
        <p:nvSpPr>
          <p:cNvPr id="6" name="Text 4"/>
          <p:cNvSpPr/>
          <p:nvPr/>
        </p:nvSpPr>
        <p:spPr>
          <a:xfrm>
            <a:off x="521642" y="1298153"/>
            <a:ext cx="7928937" cy="450503"/>
          </a:xfrm>
          <a:prstGeom prst="rect">
            <a:avLst/>
          </a:prstGeom>
          <a:noFill/>
          <a:ln/>
        </p:spPr>
        <p:txBody>
          <a:bodyPr wrap="square" lIns="0" tIns="0" rIns="0" bIns="0" rtlCol="0" anchor="t"/>
          <a:lstStyle/>
          <a:p>
            <a:pPr marL="0" indent="0" algn="l">
              <a:lnSpc>
                <a:spcPts val="1150"/>
              </a:lnSpc>
              <a:buNone/>
            </a:pPr>
            <a:r>
              <a:rPr lang="en-US" sz="800" dirty="0">
                <a:solidFill>
                  <a:srgbClr val="464646"/>
                </a:solidFill>
                <a:latin typeface="Inter Medium" pitchFamily="34" charset="0"/>
                <a:ea typeface="Inter Medium" pitchFamily="34" charset="-122"/>
                <a:cs typeface="Inter Medium" pitchFamily="34" charset="-120"/>
              </a:rPr>
              <a:t>Moving beyond pairwise relationships, multivariate analysis reveals how combinations of variables jointly influence pricing and perception — </a:t>
            </a:r>
          </a:p>
          <a:p>
            <a:pPr marL="0" indent="0" algn="l">
              <a:lnSpc>
                <a:spcPts val="1150"/>
              </a:lnSpc>
              <a:buNone/>
            </a:pPr>
            <a:r>
              <a:rPr lang="en-US" sz="800" dirty="0">
                <a:solidFill>
                  <a:srgbClr val="464646"/>
                </a:solidFill>
                <a:latin typeface="Inter Medium" pitchFamily="34" charset="0"/>
                <a:ea typeface="Inter Medium" pitchFamily="34" charset="-122"/>
                <a:cs typeface="Inter Medium" pitchFamily="34" charset="-120"/>
              </a:rPr>
              <a:t>the foundation of data-driven market strategy.</a:t>
            </a:r>
            <a:endParaRPr lang="en-US" sz="800" dirty="0"/>
          </a:p>
        </p:txBody>
      </p:sp>
      <p:sp>
        <p:nvSpPr>
          <p:cNvPr id="8" name="Shape 6"/>
          <p:cNvSpPr/>
          <p:nvPr/>
        </p:nvSpPr>
        <p:spPr>
          <a:xfrm>
            <a:off x="521643" y="1745559"/>
            <a:ext cx="7928936" cy="45719"/>
          </a:xfrm>
          <a:prstGeom prst="rect">
            <a:avLst/>
          </a:prstGeom>
          <a:solidFill>
            <a:srgbClr val="1C9770"/>
          </a:solidFill>
          <a:ln/>
        </p:spPr>
        <p:txBody>
          <a:bodyPr/>
          <a:lstStyle/>
          <a:p>
            <a:endParaRPr lang="en-IN"/>
          </a:p>
        </p:txBody>
      </p:sp>
      <p:sp>
        <p:nvSpPr>
          <p:cNvPr id="9" name="Text 7"/>
          <p:cNvSpPr/>
          <p:nvPr/>
        </p:nvSpPr>
        <p:spPr>
          <a:xfrm>
            <a:off x="521643" y="2084561"/>
            <a:ext cx="1296367" cy="160511"/>
          </a:xfrm>
          <a:prstGeom prst="rect">
            <a:avLst/>
          </a:prstGeom>
          <a:noFill/>
          <a:ln/>
        </p:spPr>
        <p:txBody>
          <a:bodyPr wrap="none" lIns="0" tIns="0" rIns="0" bIns="0" rtlCol="0" anchor="t"/>
          <a:lstStyle/>
          <a:p>
            <a:pPr marL="0" indent="0" algn="l">
              <a:lnSpc>
                <a:spcPts val="1250"/>
              </a:lnSpc>
              <a:buNone/>
            </a:pPr>
            <a:r>
              <a:rPr lang="en-US" sz="1000" dirty="0">
                <a:solidFill>
                  <a:srgbClr val="464646"/>
                </a:solidFill>
                <a:latin typeface="DM Sans Semi Bold" pitchFamily="34" charset="0"/>
                <a:ea typeface="DM Sans Semi Bold" pitchFamily="34" charset="-122"/>
                <a:cs typeface="DM Sans Semi Bold" pitchFamily="34" charset="-120"/>
              </a:rPr>
              <a:t>Correlation Heatmap</a:t>
            </a:r>
            <a:endParaRPr lang="en-US" sz="1000" dirty="0"/>
          </a:p>
        </p:txBody>
      </p:sp>
      <p:sp>
        <p:nvSpPr>
          <p:cNvPr id="10" name="Text 8"/>
          <p:cNvSpPr/>
          <p:nvPr/>
        </p:nvSpPr>
        <p:spPr>
          <a:xfrm>
            <a:off x="521643" y="2330128"/>
            <a:ext cx="3999907" cy="1983318"/>
          </a:xfrm>
          <a:prstGeom prst="rect">
            <a:avLst/>
          </a:prstGeom>
          <a:noFill/>
          <a:ln/>
        </p:spPr>
        <p:txBody>
          <a:bodyPr wrap="square" lIns="0" tIns="0" rIns="0" bIns="0" rtlCol="0" anchor="t"/>
          <a:lstStyle/>
          <a:p>
            <a:pPr>
              <a:lnSpc>
                <a:spcPts val="1150"/>
              </a:lnSpc>
            </a:pPr>
            <a:r>
              <a:rPr lang="en-US" sz="900" dirty="0">
                <a:solidFill>
                  <a:schemeClr val="tx1">
                    <a:lumMod val="65000"/>
                    <a:lumOff val="35000"/>
                  </a:schemeClr>
                </a:solidFill>
                <a:latin typeface="Inter Medium" panose="020B0604020202020204" charset="0"/>
                <a:ea typeface="Inter Medium" panose="020B0604020202020204" charset="0"/>
              </a:rPr>
              <a:t>The heatmap shows that smartphone price has a strong positive relationship with storage and ratings.</a:t>
            </a:r>
          </a:p>
          <a:p>
            <a:pPr>
              <a:lnSpc>
                <a:spcPts val="1150"/>
              </a:lnSpc>
            </a:pPr>
            <a:br>
              <a:rPr lang="en-US" sz="900" dirty="0">
                <a:solidFill>
                  <a:schemeClr val="tx1">
                    <a:lumMod val="65000"/>
                    <a:lumOff val="35000"/>
                  </a:schemeClr>
                </a:solidFill>
                <a:latin typeface="Inter Medium" panose="020B0604020202020204" charset="0"/>
                <a:ea typeface="Inter Medium" panose="020B0604020202020204" charset="0"/>
              </a:rPr>
            </a:br>
            <a:r>
              <a:rPr lang="en-US" sz="900" dirty="0">
                <a:solidFill>
                  <a:schemeClr val="tx1">
                    <a:lumMod val="65000"/>
                    <a:lumOff val="35000"/>
                  </a:schemeClr>
                </a:solidFill>
                <a:latin typeface="Inter Medium" panose="020B0604020202020204" charset="0"/>
                <a:ea typeface="Inter Medium" panose="020B0604020202020204" charset="0"/>
              </a:rPr>
              <a:t>Discount percentage has a weaker and mostly negative correlation with price and rating.</a:t>
            </a:r>
          </a:p>
          <a:p>
            <a:pPr>
              <a:lnSpc>
                <a:spcPts val="1150"/>
              </a:lnSpc>
            </a:pPr>
            <a:br>
              <a:rPr lang="en-US" sz="900" dirty="0">
                <a:solidFill>
                  <a:schemeClr val="tx1">
                    <a:lumMod val="65000"/>
                    <a:lumOff val="35000"/>
                  </a:schemeClr>
                </a:solidFill>
                <a:latin typeface="Inter Medium" panose="020B0604020202020204" charset="0"/>
                <a:ea typeface="Inter Medium" panose="020B0604020202020204" charset="0"/>
              </a:rPr>
            </a:br>
            <a:r>
              <a:rPr lang="en-US" sz="900" dirty="0">
                <a:solidFill>
                  <a:schemeClr val="tx1">
                    <a:lumMod val="65000"/>
                    <a:lumOff val="35000"/>
                  </a:schemeClr>
                </a:solidFill>
                <a:latin typeface="Inter Medium" panose="020B0604020202020204" charset="0"/>
                <a:ea typeface="Inter Medium" panose="020B0604020202020204" charset="0"/>
              </a:rPr>
              <a:t>This indicates that specifications and product quality influence value more than discounts.</a:t>
            </a:r>
          </a:p>
        </p:txBody>
      </p:sp>
      <p:pic>
        <p:nvPicPr>
          <p:cNvPr id="3" name="Picture 2">
            <a:extLst>
              <a:ext uri="{FF2B5EF4-FFF2-40B4-BE49-F238E27FC236}">
                <a16:creationId xmlns:a16="http://schemas.microsoft.com/office/drawing/2014/main" id="{C349F3F7-8ACA-D182-8282-01372498E68D}"/>
              </a:ext>
            </a:extLst>
          </p:cNvPr>
          <p:cNvPicPr>
            <a:picLocks noChangeAspect="1"/>
          </p:cNvPicPr>
          <p:nvPr/>
        </p:nvPicPr>
        <p:blipFill>
          <a:blip r:embed="rId3"/>
          <a:stretch>
            <a:fillRect/>
          </a:stretch>
        </p:blipFill>
        <p:spPr>
          <a:xfrm>
            <a:off x="4858323" y="2009253"/>
            <a:ext cx="3458791" cy="29892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80640" y="369243"/>
            <a:ext cx="1921297" cy="223391"/>
          </a:xfrm>
          <a:prstGeom prst="roundRect">
            <a:avLst>
              <a:gd name="adj" fmla="val 6455"/>
            </a:avLst>
          </a:prstGeom>
          <a:solidFill>
            <a:srgbClr val="D4F7EC"/>
          </a:solidFill>
          <a:ln/>
        </p:spPr>
        <p:txBody>
          <a:bodyPr/>
          <a:lstStyle/>
          <a:p>
            <a:endParaRPr lang="en-IN"/>
          </a:p>
        </p:txBody>
      </p:sp>
      <p:sp>
        <p:nvSpPr>
          <p:cNvPr id="3" name="Text 1"/>
          <p:cNvSpPr/>
          <p:nvPr/>
        </p:nvSpPr>
        <p:spPr>
          <a:xfrm>
            <a:off x="552673" y="405259"/>
            <a:ext cx="1777231" cy="151358"/>
          </a:xfrm>
          <a:prstGeom prst="rect">
            <a:avLst/>
          </a:prstGeom>
          <a:noFill/>
          <a:ln/>
        </p:spPr>
        <p:txBody>
          <a:bodyPr wrap="none" lIns="0" tIns="0" rIns="0" bIns="0" rtlCol="0" anchor="t"/>
          <a:lstStyle/>
          <a:p>
            <a:pPr marL="0" indent="0" algn="ctr">
              <a:lnSpc>
                <a:spcPts val="1150"/>
              </a:lnSpc>
              <a:buNone/>
            </a:pPr>
            <a:r>
              <a:rPr lang="en-US" sz="750" dirty="0">
                <a:solidFill>
                  <a:srgbClr val="464646"/>
                </a:solidFill>
                <a:latin typeface="Inter Medium" pitchFamily="34" charset="0"/>
                <a:ea typeface="Inter Medium" pitchFamily="34" charset="-122"/>
                <a:cs typeface="Inter Medium" pitchFamily="34" charset="-120"/>
              </a:rPr>
              <a:t>STRATEGIC INSIGHTS </a:t>
            </a:r>
            <a:endParaRPr lang="en-US" sz="750" dirty="0"/>
          </a:p>
        </p:txBody>
      </p:sp>
      <p:sp>
        <p:nvSpPr>
          <p:cNvPr id="4" name="Text 2"/>
          <p:cNvSpPr/>
          <p:nvPr/>
        </p:nvSpPr>
        <p:spPr>
          <a:xfrm>
            <a:off x="480640" y="639142"/>
            <a:ext cx="4221063" cy="375493"/>
          </a:xfrm>
          <a:prstGeom prst="rect">
            <a:avLst/>
          </a:prstGeom>
          <a:noFill/>
          <a:ln/>
        </p:spPr>
        <p:txBody>
          <a:bodyPr wrap="none" lIns="0" tIns="0" rIns="0" bIns="0" rtlCol="0" anchor="t"/>
          <a:lstStyle/>
          <a:p>
            <a:pPr marL="0" indent="0" algn="l">
              <a:lnSpc>
                <a:spcPts val="2950"/>
              </a:lnSpc>
              <a:buNone/>
            </a:pPr>
            <a:r>
              <a:rPr lang="en-US" sz="2350" dirty="0">
                <a:solidFill>
                  <a:srgbClr val="030303"/>
                </a:solidFill>
                <a:latin typeface="DM Sans Semi Bold" pitchFamily="34" charset="0"/>
                <a:ea typeface="DM Sans Semi Bold" pitchFamily="34" charset="-122"/>
                <a:cs typeface="DM Sans Semi Bold" pitchFamily="34" charset="-120"/>
              </a:rPr>
              <a:t>Market Intelligence Summary &amp; Conclusion</a:t>
            </a:r>
            <a:endParaRPr lang="en-US" sz="2350" dirty="0"/>
          </a:p>
        </p:txBody>
      </p:sp>
      <p:sp>
        <p:nvSpPr>
          <p:cNvPr id="5" name="Text 3"/>
          <p:cNvSpPr/>
          <p:nvPr/>
        </p:nvSpPr>
        <p:spPr>
          <a:xfrm>
            <a:off x="480640" y="1189211"/>
            <a:ext cx="8182719" cy="378470"/>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The analysis of 400+ Flipkart smartphone listings surfaces four high-confidence strategic signals that carry direct implications for brand managers, product strategists, and market researchers.</a:t>
            </a:r>
            <a:endParaRPr lang="en-US" sz="900" dirty="0"/>
          </a:p>
        </p:txBody>
      </p:sp>
      <p:sp>
        <p:nvSpPr>
          <p:cNvPr id="6" name="Shape 4"/>
          <p:cNvSpPr/>
          <p:nvPr/>
        </p:nvSpPr>
        <p:spPr>
          <a:xfrm>
            <a:off x="480640" y="1698575"/>
            <a:ext cx="4033168" cy="1094036"/>
          </a:xfrm>
          <a:prstGeom prst="roundRect">
            <a:avLst>
              <a:gd name="adj" fmla="val 1648"/>
            </a:avLst>
          </a:prstGeom>
          <a:solidFill>
            <a:srgbClr val="FFFFFF"/>
          </a:solidFill>
          <a:ln w="14288">
            <a:solidFill>
              <a:srgbClr val="D8D4D4"/>
            </a:solidFill>
            <a:prstDash val="solid"/>
          </a:ln>
        </p:spPr>
        <p:txBody>
          <a:bodyPr/>
          <a:lstStyle/>
          <a:p>
            <a:endParaRPr lang="en-IN"/>
          </a:p>
        </p:txBody>
      </p:sp>
      <p:sp>
        <p:nvSpPr>
          <p:cNvPr id="7" name="Text 5"/>
          <p:cNvSpPr/>
          <p:nvPr/>
        </p:nvSpPr>
        <p:spPr>
          <a:xfrm>
            <a:off x="615032" y="1832967"/>
            <a:ext cx="1651099" cy="187747"/>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Mid-Range Dominance</a:t>
            </a:r>
            <a:endParaRPr lang="en-US" sz="1150" dirty="0"/>
          </a:p>
        </p:txBody>
      </p:sp>
      <p:sp>
        <p:nvSpPr>
          <p:cNvPr id="8" name="Text 6"/>
          <p:cNvSpPr/>
          <p:nvPr/>
        </p:nvSpPr>
        <p:spPr>
          <a:xfrm>
            <a:off x="615032" y="2090514"/>
            <a:ext cx="3764384" cy="567705"/>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The ₹10,000–₹20,000 segment accounts for the plurality of listings and reviews, confirming volume leadership and strong consumer pull in value tiers.</a:t>
            </a:r>
            <a:endParaRPr lang="en-US" sz="900" dirty="0"/>
          </a:p>
        </p:txBody>
      </p:sp>
      <p:sp>
        <p:nvSpPr>
          <p:cNvPr id="9" name="Shape 7"/>
          <p:cNvSpPr/>
          <p:nvPr/>
        </p:nvSpPr>
        <p:spPr>
          <a:xfrm>
            <a:off x="4630192" y="1698575"/>
            <a:ext cx="4033168" cy="1094036"/>
          </a:xfrm>
          <a:prstGeom prst="roundRect">
            <a:avLst>
              <a:gd name="adj" fmla="val 1648"/>
            </a:avLst>
          </a:prstGeom>
          <a:solidFill>
            <a:srgbClr val="FFFFFF"/>
          </a:solidFill>
          <a:ln w="14288">
            <a:solidFill>
              <a:srgbClr val="D8D4D4"/>
            </a:solidFill>
            <a:prstDash val="solid"/>
          </a:ln>
        </p:spPr>
        <p:txBody>
          <a:bodyPr/>
          <a:lstStyle/>
          <a:p>
            <a:endParaRPr lang="en-IN"/>
          </a:p>
        </p:txBody>
      </p:sp>
      <p:sp>
        <p:nvSpPr>
          <p:cNvPr id="10" name="Text 8"/>
          <p:cNvSpPr/>
          <p:nvPr/>
        </p:nvSpPr>
        <p:spPr>
          <a:xfrm>
            <a:off x="4764584" y="1832967"/>
            <a:ext cx="1502122" cy="187747"/>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Specs Drive Price</a:t>
            </a:r>
            <a:endParaRPr lang="en-US" sz="1150" dirty="0"/>
          </a:p>
        </p:txBody>
      </p:sp>
      <p:sp>
        <p:nvSpPr>
          <p:cNvPr id="11" name="Text 9"/>
          <p:cNvSpPr/>
          <p:nvPr/>
        </p:nvSpPr>
        <p:spPr>
          <a:xfrm>
            <a:off x="4764584" y="2090514"/>
            <a:ext cx="3764384" cy="567705"/>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RAM and storage are the most powerful numeric predictors of price. Brands use configuration laddering — 4/64GB to 12/256GB — as the primary price-step mechanism.</a:t>
            </a:r>
            <a:endParaRPr lang="en-US" sz="900" dirty="0"/>
          </a:p>
        </p:txBody>
      </p:sp>
      <p:sp>
        <p:nvSpPr>
          <p:cNvPr id="12" name="Shape 10"/>
          <p:cNvSpPr/>
          <p:nvPr/>
        </p:nvSpPr>
        <p:spPr>
          <a:xfrm>
            <a:off x="480640" y="2908995"/>
            <a:ext cx="4033168" cy="1094036"/>
          </a:xfrm>
          <a:prstGeom prst="roundRect">
            <a:avLst>
              <a:gd name="adj" fmla="val 1648"/>
            </a:avLst>
          </a:prstGeom>
          <a:solidFill>
            <a:srgbClr val="FFFFFF"/>
          </a:solidFill>
          <a:ln w="14288">
            <a:solidFill>
              <a:srgbClr val="D8D4D4"/>
            </a:solidFill>
            <a:prstDash val="solid"/>
          </a:ln>
        </p:spPr>
        <p:txBody>
          <a:bodyPr/>
          <a:lstStyle/>
          <a:p>
            <a:endParaRPr lang="en-IN"/>
          </a:p>
        </p:txBody>
      </p:sp>
      <p:sp>
        <p:nvSpPr>
          <p:cNvPr id="13" name="Text 11"/>
          <p:cNvSpPr/>
          <p:nvPr/>
        </p:nvSpPr>
        <p:spPr>
          <a:xfrm>
            <a:off x="615032" y="3043386"/>
            <a:ext cx="1502122" cy="187747"/>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Brand Equity Is Real</a:t>
            </a:r>
            <a:endParaRPr lang="en-US" sz="1150" dirty="0"/>
          </a:p>
        </p:txBody>
      </p:sp>
      <p:sp>
        <p:nvSpPr>
          <p:cNvPr id="14" name="Text 12"/>
          <p:cNvSpPr/>
          <p:nvPr/>
        </p:nvSpPr>
        <p:spPr>
          <a:xfrm>
            <a:off x="615032" y="3300933"/>
            <a:ext cx="3764384" cy="567705"/>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Premium brands (Apple, Samsung flagship) command price premiums that exceed their specification gap — brand perception creates quantifiable pricing power.</a:t>
            </a:r>
            <a:endParaRPr lang="en-US" sz="900" dirty="0"/>
          </a:p>
        </p:txBody>
      </p:sp>
      <p:sp>
        <p:nvSpPr>
          <p:cNvPr id="15" name="Shape 13"/>
          <p:cNvSpPr/>
          <p:nvPr/>
        </p:nvSpPr>
        <p:spPr>
          <a:xfrm>
            <a:off x="4630192" y="2908995"/>
            <a:ext cx="4033168" cy="1094036"/>
          </a:xfrm>
          <a:prstGeom prst="roundRect">
            <a:avLst>
              <a:gd name="adj" fmla="val 1648"/>
            </a:avLst>
          </a:prstGeom>
          <a:solidFill>
            <a:srgbClr val="FFFFFF"/>
          </a:solidFill>
          <a:ln w="14288">
            <a:solidFill>
              <a:srgbClr val="D8D4D4"/>
            </a:solidFill>
            <a:prstDash val="solid"/>
          </a:ln>
        </p:spPr>
        <p:txBody>
          <a:bodyPr/>
          <a:lstStyle/>
          <a:p>
            <a:endParaRPr lang="en-IN"/>
          </a:p>
        </p:txBody>
      </p:sp>
      <p:sp>
        <p:nvSpPr>
          <p:cNvPr id="16" name="Text 14"/>
          <p:cNvSpPr/>
          <p:nvPr/>
        </p:nvSpPr>
        <p:spPr>
          <a:xfrm>
            <a:off x="4764584" y="3043386"/>
            <a:ext cx="1502122" cy="187747"/>
          </a:xfrm>
          <a:prstGeom prst="rect">
            <a:avLst/>
          </a:prstGeom>
          <a:noFill/>
          <a:ln/>
        </p:spPr>
        <p:txBody>
          <a:bodyPr wrap="none" lIns="0" tIns="0" rIns="0" bIns="0" rtlCol="0" anchor="t"/>
          <a:lstStyle/>
          <a:p>
            <a:pPr marL="0" indent="0" algn="l">
              <a:lnSpc>
                <a:spcPts val="1450"/>
              </a:lnSpc>
              <a:buNone/>
            </a:pPr>
            <a:r>
              <a:rPr lang="en-US" sz="1150" dirty="0">
                <a:solidFill>
                  <a:srgbClr val="464646"/>
                </a:solidFill>
                <a:latin typeface="DM Sans Semi Bold" pitchFamily="34" charset="0"/>
                <a:ea typeface="DM Sans Semi Bold" pitchFamily="34" charset="-122"/>
                <a:cs typeface="DM Sans Semi Bold" pitchFamily="34" charset="-120"/>
              </a:rPr>
              <a:t>Discounts ≠ Ratings</a:t>
            </a:r>
            <a:endParaRPr lang="en-US" sz="1150" dirty="0"/>
          </a:p>
        </p:txBody>
      </p:sp>
      <p:sp>
        <p:nvSpPr>
          <p:cNvPr id="17" name="Text 15"/>
          <p:cNvSpPr/>
          <p:nvPr/>
        </p:nvSpPr>
        <p:spPr>
          <a:xfrm>
            <a:off x="4764584" y="3300933"/>
            <a:ext cx="3764384" cy="567705"/>
          </a:xfrm>
          <a:prstGeom prst="rect">
            <a:avLst/>
          </a:prstGeom>
          <a:noFill/>
          <a:ln/>
        </p:spPr>
        <p:txBody>
          <a:bodyPr wrap="square" lIns="0" tIns="0" rIns="0" bIns="0" rtlCol="0" anchor="t"/>
          <a:lstStyle/>
          <a:p>
            <a:pPr marL="0" indent="0" algn="l">
              <a:lnSpc>
                <a:spcPts val="1450"/>
              </a:lnSpc>
              <a:buNone/>
            </a:pPr>
            <a:r>
              <a:rPr lang="en-US" sz="900" dirty="0">
                <a:solidFill>
                  <a:srgbClr val="464646"/>
                </a:solidFill>
                <a:latin typeface="Inter Medium" pitchFamily="34" charset="0"/>
                <a:ea typeface="Inter Medium" pitchFamily="34" charset="-122"/>
                <a:cs typeface="Inter Medium" pitchFamily="34" charset="-120"/>
              </a:rPr>
              <a:t>Discount percentage shows no meaningful correlation with customer rating, disproving the assumption that aggressive discounting improves perceived value or satisfaction.</a:t>
            </a:r>
            <a:endParaRPr lang="en-US" sz="900" dirty="0"/>
          </a:p>
        </p:txBody>
      </p:sp>
      <p:sp>
        <p:nvSpPr>
          <p:cNvPr id="20" name="Shape 17">
            <a:extLst>
              <a:ext uri="{FF2B5EF4-FFF2-40B4-BE49-F238E27FC236}">
                <a16:creationId xmlns:a16="http://schemas.microsoft.com/office/drawing/2014/main" id="{D47A07A9-BC05-AE64-E3CA-409B8906C2DB}"/>
              </a:ext>
            </a:extLst>
          </p:cNvPr>
          <p:cNvSpPr/>
          <p:nvPr/>
        </p:nvSpPr>
        <p:spPr>
          <a:xfrm>
            <a:off x="480640" y="4117702"/>
            <a:ext cx="3924970" cy="756047"/>
          </a:xfrm>
          <a:prstGeom prst="roundRect">
            <a:avLst>
              <a:gd name="adj" fmla="val 2038"/>
            </a:avLst>
          </a:prstGeom>
          <a:solidFill>
            <a:srgbClr val="F2EEEE"/>
          </a:solidFill>
          <a:ln/>
        </p:spPr>
        <p:txBody>
          <a:bodyPr/>
          <a:lstStyle/>
          <a:p>
            <a:endParaRPr lang="en-IN"/>
          </a:p>
        </p:txBody>
      </p:sp>
      <p:sp>
        <p:nvSpPr>
          <p:cNvPr id="21" name="Text 18">
            <a:extLst>
              <a:ext uri="{FF2B5EF4-FFF2-40B4-BE49-F238E27FC236}">
                <a16:creationId xmlns:a16="http://schemas.microsoft.com/office/drawing/2014/main" id="{EA3F4792-070F-DF28-DD81-E377E3C2F0CC}"/>
              </a:ext>
            </a:extLst>
          </p:cNvPr>
          <p:cNvSpPr/>
          <p:nvPr/>
        </p:nvSpPr>
        <p:spPr>
          <a:xfrm>
            <a:off x="583332" y="4220394"/>
            <a:ext cx="1284015" cy="165274"/>
          </a:xfrm>
          <a:prstGeom prst="rect">
            <a:avLst/>
          </a:prstGeom>
          <a:noFill/>
          <a:ln/>
        </p:spPr>
        <p:txBody>
          <a:bodyPr wrap="none" lIns="0" tIns="0" rIns="0" bIns="0" rtlCol="0" anchor="t"/>
          <a:lstStyle/>
          <a:p>
            <a:pPr marL="0" indent="0" algn="l">
              <a:lnSpc>
                <a:spcPts val="1250"/>
              </a:lnSpc>
              <a:buNone/>
            </a:pPr>
            <a:r>
              <a:rPr lang="en-US" sz="1000" dirty="0">
                <a:solidFill>
                  <a:srgbClr val="000000"/>
                </a:solidFill>
                <a:latin typeface="DM Sans Semi Bold" pitchFamily="34" charset="0"/>
                <a:ea typeface="DM Sans Semi Bold" pitchFamily="34" charset="-122"/>
                <a:cs typeface="DM Sans Semi Bold" pitchFamily="34" charset="-120"/>
              </a:rPr>
              <a:t>🔥</a:t>
            </a:r>
            <a:r>
              <a:rPr lang="en-US" sz="1000" dirty="0">
                <a:solidFill>
                  <a:srgbClr val="464646"/>
                </a:solidFill>
                <a:latin typeface="DM Sans Semi Bold" pitchFamily="34" charset="0"/>
                <a:ea typeface="DM Sans Semi Bold" pitchFamily="34" charset="-122"/>
                <a:cs typeface="DM Sans Semi Bold" pitchFamily="34" charset="-120"/>
              </a:rPr>
              <a:t> Key Finding #1</a:t>
            </a:r>
            <a:endParaRPr lang="en-US" sz="1000" dirty="0"/>
          </a:p>
        </p:txBody>
      </p:sp>
      <p:sp>
        <p:nvSpPr>
          <p:cNvPr id="22" name="Text 19">
            <a:extLst>
              <a:ext uri="{FF2B5EF4-FFF2-40B4-BE49-F238E27FC236}">
                <a16:creationId xmlns:a16="http://schemas.microsoft.com/office/drawing/2014/main" id="{E99A69DC-FA7D-878C-5BD8-4CA37F791772}"/>
              </a:ext>
            </a:extLst>
          </p:cNvPr>
          <p:cNvSpPr/>
          <p:nvPr/>
        </p:nvSpPr>
        <p:spPr>
          <a:xfrm>
            <a:off x="583332" y="4470722"/>
            <a:ext cx="3719587" cy="300335"/>
          </a:xfrm>
          <a:prstGeom prst="rect">
            <a:avLst/>
          </a:prstGeom>
          <a:noFill/>
          <a:ln/>
        </p:spPr>
        <p:txBody>
          <a:bodyPr wrap="square" lIns="0" tIns="0" rIns="0" bIns="0" rtlCol="0" anchor="t"/>
          <a:lstStyle/>
          <a:p>
            <a:pPr marL="0" indent="0" algn="l">
              <a:lnSpc>
                <a:spcPts val="1150"/>
              </a:lnSpc>
              <a:buNone/>
            </a:pPr>
            <a:r>
              <a:rPr lang="en-US" sz="800" dirty="0">
                <a:solidFill>
                  <a:srgbClr val="464646"/>
                </a:solidFill>
                <a:latin typeface="Inter Medium" pitchFamily="34" charset="0"/>
                <a:ea typeface="Inter Medium" pitchFamily="34" charset="-122"/>
                <a:cs typeface="Inter Medium" pitchFamily="34" charset="-120"/>
              </a:rPr>
              <a:t>RAM + Storage together explain </a:t>
            </a:r>
            <a:r>
              <a:rPr lang="en-US" sz="800" b="1" dirty="0">
                <a:solidFill>
                  <a:srgbClr val="464646"/>
                </a:solidFill>
                <a:latin typeface="Inter Medium" pitchFamily="34" charset="0"/>
                <a:ea typeface="Inter Medium" pitchFamily="34" charset="-122"/>
                <a:cs typeface="Inter Medium" pitchFamily="34" charset="-120"/>
              </a:rPr>
              <a:t>~60%</a:t>
            </a:r>
            <a:r>
              <a:rPr lang="en-US" sz="800" dirty="0">
                <a:solidFill>
                  <a:srgbClr val="464646"/>
                </a:solidFill>
                <a:latin typeface="Inter Medium" pitchFamily="34" charset="0"/>
                <a:ea typeface="Inter Medium" pitchFamily="34" charset="-122"/>
                <a:cs typeface="Inter Medium" pitchFamily="34" charset="-120"/>
              </a:rPr>
              <a:t> of price variance — the strongest combined specification predictor.</a:t>
            </a:r>
            <a:endParaRPr lang="en-US" sz="800" dirty="0"/>
          </a:p>
        </p:txBody>
      </p:sp>
      <p:sp>
        <p:nvSpPr>
          <p:cNvPr id="23" name="Shape 20">
            <a:extLst>
              <a:ext uri="{FF2B5EF4-FFF2-40B4-BE49-F238E27FC236}">
                <a16:creationId xmlns:a16="http://schemas.microsoft.com/office/drawing/2014/main" id="{C4E5CAEF-EA21-03DA-7288-E8A9BC0DC3C2}"/>
              </a:ext>
            </a:extLst>
          </p:cNvPr>
          <p:cNvSpPr/>
          <p:nvPr/>
        </p:nvSpPr>
        <p:spPr>
          <a:xfrm>
            <a:off x="4683562" y="4117701"/>
            <a:ext cx="3924970" cy="756047"/>
          </a:xfrm>
          <a:prstGeom prst="roundRect">
            <a:avLst>
              <a:gd name="adj" fmla="val 2038"/>
            </a:avLst>
          </a:prstGeom>
          <a:solidFill>
            <a:srgbClr val="F2EEEE"/>
          </a:solidFill>
          <a:ln/>
        </p:spPr>
        <p:txBody>
          <a:bodyPr/>
          <a:lstStyle/>
          <a:p>
            <a:endParaRPr lang="en-IN"/>
          </a:p>
        </p:txBody>
      </p:sp>
      <p:sp>
        <p:nvSpPr>
          <p:cNvPr id="24" name="Text 21">
            <a:extLst>
              <a:ext uri="{FF2B5EF4-FFF2-40B4-BE49-F238E27FC236}">
                <a16:creationId xmlns:a16="http://schemas.microsoft.com/office/drawing/2014/main" id="{6AB0EE67-0A9E-EC3D-444F-33FE552420A8}"/>
              </a:ext>
            </a:extLst>
          </p:cNvPr>
          <p:cNvSpPr/>
          <p:nvPr/>
        </p:nvSpPr>
        <p:spPr>
          <a:xfrm>
            <a:off x="4715708" y="4164199"/>
            <a:ext cx="1284015" cy="165274"/>
          </a:xfrm>
          <a:prstGeom prst="rect">
            <a:avLst/>
          </a:prstGeom>
          <a:noFill/>
          <a:ln/>
        </p:spPr>
        <p:txBody>
          <a:bodyPr wrap="none" lIns="0" tIns="0" rIns="0" bIns="0" rtlCol="0" anchor="t"/>
          <a:lstStyle/>
          <a:p>
            <a:pPr marL="0" indent="0" algn="l">
              <a:lnSpc>
                <a:spcPts val="1250"/>
              </a:lnSpc>
              <a:buNone/>
            </a:pPr>
            <a:r>
              <a:rPr lang="en-US" sz="1000" dirty="0">
                <a:solidFill>
                  <a:srgbClr val="000000"/>
                </a:solidFill>
                <a:latin typeface="DM Sans Semi Bold" pitchFamily="34" charset="0"/>
                <a:ea typeface="DM Sans Semi Bold" pitchFamily="34" charset="-122"/>
                <a:cs typeface="DM Sans Semi Bold" pitchFamily="34" charset="-120"/>
              </a:rPr>
              <a:t>🎯</a:t>
            </a:r>
            <a:r>
              <a:rPr lang="en-US" sz="1000" dirty="0">
                <a:solidFill>
                  <a:srgbClr val="464646"/>
                </a:solidFill>
                <a:latin typeface="DM Sans Semi Bold" pitchFamily="34" charset="0"/>
                <a:ea typeface="DM Sans Semi Bold" pitchFamily="34" charset="-122"/>
                <a:cs typeface="DM Sans Semi Bold" pitchFamily="34" charset="-120"/>
              </a:rPr>
              <a:t> Key Finding #2</a:t>
            </a:r>
            <a:endParaRPr lang="en-US" sz="1000" dirty="0"/>
          </a:p>
        </p:txBody>
      </p:sp>
      <p:sp>
        <p:nvSpPr>
          <p:cNvPr id="25" name="Text 22">
            <a:extLst>
              <a:ext uri="{FF2B5EF4-FFF2-40B4-BE49-F238E27FC236}">
                <a16:creationId xmlns:a16="http://schemas.microsoft.com/office/drawing/2014/main" id="{5CF2C25A-6AF7-C076-F86B-D38B9F38C1AB}"/>
              </a:ext>
            </a:extLst>
          </p:cNvPr>
          <p:cNvSpPr/>
          <p:nvPr/>
        </p:nvSpPr>
        <p:spPr>
          <a:xfrm>
            <a:off x="4701703" y="4443339"/>
            <a:ext cx="3719587" cy="300335"/>
          </a:xfrm>
          <a:prstGeom prst="rect">
            <a:avLst/>
          </a:prstGeom>
          <a:noFill/>
          <a:ln/>
        </p:spPr>
        <p:txBody>
          <a:bodyPr wrap="square" lIns="0" tIns="0" rIns="0" bIns="0" rtlCol="0" anchor="t"/>
          <a:lstStyle/>
          <a:p>
            <a:pPr marL="0" indent="0" algn="l">
              <a:lnSpc>
                <a:spcPts val="1150"/>
              </a:lnSpc>
              <a:buNone/>
            </a:pPr>
            <a:r>
              <a:rPr lang="en-US" sz="800" dirty="0">
                <a:solidFill>
                  <a:srgbClr val="464646"/>
                </a:solidFill>
                <a:latin typeface="Inter Medium" pitchFamily="34" charset="0"/>
                <a:ea typeface="Inter Medium" pitchFamily="34" charset="-122"/>
                <a:cs typeface="Inter Medium" pitchFamily="34" charset="-120"/>
              </a:rPr>
              <a:t>Brand positioning is </a:t>
            </a:r>
            <a:r>
              <a:rPr lang="en-US" sz="800" b="1" dirty="0">
                <a:solidFill>
                  <a:srgbClr val="464646"/>
                </a:solidFill>
                <a:latin typeface="Inter Medium" pitchFamily="34" charset="0"/>
                <a:ea typeface="Inter Medium" pitchFamily="34" charset="-122"/>
                <a:cs typeface="Inter Medium" pitchFamily="34" charset="-120"/>
              </a:rPr>
              <a:t>non-linear</a:t>
            </a:r>
            <a:r>
              <a:rPr lang="en-US" sz="800" dirty="0">
                <a:solidFill>
                  <a:srgbClr val="464646"/>
                </a:solidFill>
                <a:latin typeface="Inter Medium" pitchFamily="34" charset="0"/>
                <a:ea typeface="Inter Medium" pitchFamily="34" charset="-122"/>
                <a:cs typeface="Inter Medium" pitchFamily="34" charset="-120"/>
              </a:rPr>
              <a:t> — premium brands occupy isolated pricing clusters, separated from volume brands by perception, not just specs.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2">
            <a:extLst>
              <a:ext uri="{FF2B5EF4-FFF2-40B4-BE49-F238E27FC236}">
                <a16:creationId xmlns:a16="http://schemas.microsoft.com/office/drawing/2014/main" id="{9E32C141-1749-AC12-DF4D-EC1F3219F487}"/>
              </a:ext>
            </a:extLst>
          </p:cNvPr>
          <p:cNvSpPr/>
          <p:nvPr/>
        </p:nvSpPr>
        <p:spPr>
          <a:xfrm>
            <a:off x="373959" y="1553542"/>
            <a:ext cx="8328080" cy="375493"/>
          </a:xfrm>
          <a:prstGeom prst="rect">
            <a:avLst/>
          </a:prstGeom>
          <a:noFill/>
          <a:ln/>
        </p:spPr>
        <p:txBody>
          <a:bodyPr wrap="none" lIns="0" tIns="0" rIns="0" bIns="0" rtlCol="0" anchor="t"/>
          <a:lstStyle/>
          <a:p>
            <a:pPr marL="0" indent="0" algn="ctr">
              <a:lnSpc>
                <a:spcPts val="2950"/>
              </a:lnSpc>
              <a:buNone/>
            </a:pPr>
            <a:r>
              <a:rPr lang="en-US" sz="3600" b="1" dirty="0">
                <a:solidFill>
                  <a:srgbClr val="030303"/>
                </a:solidFill>
                <a:latin typeface="DM Sans Semi Bold" pitchFamily="34" charset="0"/>
                <a:ea typeface="DM Sans Semi Bold" pitchFamily="34" charset="-122"/>
                <a:cs typeface="DM Sans Semi Bold" pitchFamily="34" charset="-120"/>
              </a:rPr>
              <a:t>Questions ?</a:t>
            </a:r>
            <a:endParaRPr lang="en-US" sz="3600" b="1" dirty="0"/>
          </a:p>
        </p:txBody>
      </p:sp>
      <p:sp>
        <p:nvSpPr>
          <p:cNvPr id="10" name="Shape 10">
            <a:extLst>
              <a:ext uri="{FF2B5EF4-FFF2-40B4-BE49-F238E27FC236}">
                <a16:creationId xmlns:a16="http://schemas.microsoft.com/office/drawing/2014/main" id="{F5D63ABB-F843-9229-1043-4BE30BBA5F5D}"/>
              </a:ext>
            </a:extLst>
          </p:cNvPr>
          <p:cNvSpPr/>
          <p:nvPr/>
        </p:nvSpPr>
        <p:spPr>
          <a:xfrm>
            <a:off x="415494" y="2089531"/>
            <a:ext cx="8286546" cy="45719"/>
          </a:xfrm>
          <a:prstGeom prst="rect">
            <a:avLst/>
          </a:prstGeom>
          <a:solidFill>
            <a:srgbClr val="1C9770"/>
          </a:solidFill>
          <a:ln/>
        </p:spPr>
        <p:txBody>
          <a:bodyPr/>
          <a:lstStyle/>
          <a:p>
            <a:pPr algn="ctr"/>
            <a:endParaRPr lang="en-IN" sz="5400"/>
          </a:p>
        </p:txBody>
      </p:sp>
      <p:sp>
        <p:nvSpPr>
          <p:cNvPr id="11" name="Text 3">
            <a:extLst>
              <a:ext uri="{FF2B5EF4-FFF2-40B4-BE49-F238E27FC236}">
                <a16:creationId xmlns:a16="http://schemas.microsoft.com/office/drawing/2014/main" id="{A47B12D7-604A-3F3C-FF49-9526529FB2DF}"/>
              </a:ext>
            </a:extLst>
          </p:cNvPr>
          <p:cNvSpPr/>
          <p:nvPr/>
        </p:nvSpPr>
        <p:spPr>
          <a:xfrm>
            <a:off x="426515" y="2295746"/>
            <a:ext cx="8382205" cy="378470"/>
          </a:xfrm>
          <a:prstGeom prst="rect">
            <a:avLst/>
          </a:prstGeom>
          <a:noFill/>
          <a:ln/>
        </p:spPr>
        <p:txBody>
          <a:bodyPr wrap="square" lIns="0" tIns="0" rIns="0" bIns="0" rtlCol="0" anchor="t"/>
          <a:lstStyle/>
          <a:p>
            <a:pPr marL="0" indent="0" algn="ctr">
              <a:lnSpc>
                <a:spcPts val="1450"/>
              </a:lnSpc>
              <a:buNone/>
            </a:pPr>
            <a:r>
              <a:rPr lang="en-US" sz="1050" dirty="0">
                <a:solidFill>
                  <a:srgbClr val="464646"/>
                </a:solidFill>
                <a:latin typeface="Inter Medium" pitchFamily="34" charset="0"/>
                <a:ea typeface="Inter Medium" pitchFamily="34" charset="-122"/>
                <a:cs typeface="Inter Medium" pitchFamily="34" charset="-120"/>
              </a:rPr>
              <a:t>THANK YOU FOR YOUR ATTENTION</a:t>
            </a:r>
            <a:endParaRPr lang="en-US" sz="1050" dirty="0"/>
          </a:p>
        </p:txBody>
      </p:sp>
      <p:sp>
        <p:nvSpPr>
          <p:cNvPr id="12" name="Text 0">
            <a:extLst>
              <a:ext uri="{FF2B5EF4-FFF2-40B4-BE49-F238E27FC236}">
                <a16:creationId xmlns:a16="http://schemas.microsoft.com/office/drawing/2014/main" id="{8D2A2D1F-880C-1AF7-7BBE-9809F4D4C915}"/>
              </a:ext>
            </a:extLst>
          </p:cNvPr>
          <p:cNvSpPr/>
          <p:nvPr/>
        </p:nvSpPr>
        <p:spPr>
          <a:xfrm>
            <a:off x="522174" y="2834711"/>
            <a:ext cx="8286546" cy="459465"/>
          </a:xfrm>
          <a:prstGeom prst="rect">
            <a:avLst/>
          </a:prstGeom>
          <a:noFill/>
          <a:ln/>
        </p:spPr>
        <p:txBody>
          <a:bodyPr wrap="none" lIns="0" tIns="0" rIns="0" bIns="0" rtlCol="0" anchor="t"/>
          <a:lstStyle/>
          <a:p>
            <a:pPr marL="0" indent="0" algn="ctr">
              <a:lnSpc>
                <a:spcPts val="3050"/>
              </a:lnSpc>
              <a:buNone/>
            </a:pPr>
            <a:r>
              <a:rPr lang="en-US" sz="1600" b="1" dirty="0">
                <a:solidFill>
                  <a:schemeClr val="tx1">
                    <a:lumMod val="65000"/>
                    <a:lumOff val="35000"/>
                  </a:schemeClr>
                </a:solidFill>
              </a:rPr>
              <a:t>SMARTPHONE MARKET DATA ANALYSIS</a:t>
            </a:r>
          </a:p>
        </p:txBody>
      </p:sp>
    </p:spTree>
    <p:extLst>
      <p:ext uri="{BB962C8B-B14F-4D97-AF65-F5344CB8AC3E}">
        <p14:creationId xmlns:p14="http://schemas.microsoft.com/office/powerpoint/2010/main" val="3308921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1">
            <a:extLst>
              <a:ext uri="{FF2B5EF4-FFF2-40B4-BE49-F238E27FC236}">
                <a16:creationId xmlns:a16="http://schemas.microsoft.com/office/drawing/2014/main" id="{19E1DCCD-33DC-D823-1F41-6631804124EF}"/>
              </a:ext>
            </a:extLst>
          </p:cNvPr>
          <p:cNvSpPr txBox="1"/>
          <p:nvPr/>
        </p:nvSpPr>
        <p:spPr>
          <a:xfrm>
            <a:off x="952500" y="1789822"/>
            <a:ext cx="7185660" cy="1392754"/>
          </a:xfrm>
          <a:prstGeom prst="rect">
            <a:avLst/>
          </a:prstGeom>
        </p:spPr>
        <p:txBody>
          <a:bodyPr wrap="square" lIns="0" tIns="0" rIns="0" bIns="0" rtlCol="0" anchor="t">
            <a:spAutoFit/>
          </a:bodyPr>
          <a:lstStyle/>
          <a:p>
            <a:pPr marL="0" lvl="0" indent="0" algn="ctr">
              <a:lnSpc>
                <a:spcPts val="11905"/>
              </a:lnSpc>
              <a:spcBef>
                <a:spcPct val="0"/>
              </a:spcBef>
            </a:pPr>
            <a:r>
              <a:rPr lang="en-US" sz="8504" b="1" spc="-544" dirty="0">
                <a:solidFill>
                  <a:schemeClr val="tx1">
                    <a:lumMod val="65000"/>
                    <a:lumOff val="35000"/>
                  </a:schemeClr>
                </a:solidFill>
                <a:latin typeface="Canva Sans Bold"/>
                <a:ea typeface="Canva Sans Bold"/>
                <a:cs typeface="Canva Sans Bold"/>
                <a:sym typeface="Canva Sans Bold"/>
              </a:rPr>
              <a:t>Thank You!</a:t>
            </a:r>
          </a:p>
        </p:txBody>
      </p:sp>
    </p:spTree>
    <p:extLst>
      <p:ext uri="{BB962C8B-B14F-4D97-AF65-F5344CB8AC3E}">
        <p14:creationId xmlns:p14="http://schemas.microsoft.com/office/powerpoint/2010/main" val="265112471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213</TotalTime>
  <Words>1378</Words>
  <Application>Microsoft Office PowerPoint</Application>
  <PresentationFormat>On-screen Show (16:9)</PresentationFormat>
  <Paragraphs>175</Paragraphs>
  <Slides>14</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Inter Medium</vt:lpstr>
      <vt:lpstr>Canva Sans Bold</vt:lpstr>
      <vt:lpstr>DM Sans Semi Bold</vt:lpstr>
      <vt:lpstr>Consolas</vt:lpstr>
      <vt:lpstr>Gill Sans MT</vt:lpstr>
      <vt:lpstr>Arial</vt:lpstr>
      <vt:lpstr>Copperplate Gothic Light</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Amrutha Ramesh</dc:creator>
  <cp:lastModifiedBy>Amrutha Ramesh</cp:lastModifiedBy>
  <cp:revision>6</cp:revision>
  <dcterms:created xsi:type="dcterms:W3CDTF">2026-05-08T06:22:10Z</dcterms:created>
  <dcterms:modified xsi:type="dcterms:W3CDTF">2026-05-18T15:16:30Z</dcterms:modified>
</cp:coreProperties>
</file>